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Sarabun" panose="020B0604020202020204" charset="-34"/>
      <p:regular r:id="rId12"/>
    </p:embeddedFont>
    <p:embeddedFont>
      <p:font typeface="Sarabun Bold" panose="020B0604020202020204" charset="-34"/>
      <p:regular r:id="rId13"/>
    </p:embeddedFont>
    <p:embeddedFont>
      <p:font typeface="Sarabun Italics" panose="020B0604020202020204" charset="-3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5" autoAdjust="0"/>
    <p:restoredTop sz="94622" autoAdjust="0"/>
  </p:normalViewPr>
  <p:slideViewPr>
    <p:cSldViewPr>
      <p:cViewPr varScale="1">
        <p:scale>
          <a:sx n="59" d="100"/>
          <a:sy n="59" d="100"/>
        </p:scale>
        <p:origin x="34"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5171213" y="-1000930"/>
            <a:ext cx="8275470" cy="9757183"/>
            <a:chOff x="0" y="0"/>
            <a:chExt cx="2179548" cy="2569793"/>
          </a:xfrm>
        </p:grpSpPr>
        <p:sp>
          <p:nvSpPr>
            <p:cNvPr id="3" name="Freeform 3"/>
            <p:cNvSpPr/>
            <p:nvPr/>
          </p:nvSpPr>
          <p:spPr>
            <a:xfrm>
              <a:off x="0" y="0"/>
              <a:ext cx="2179548" cy="2569793"/>
            </a:xfrm>
            <a:custGeom>
              <a:avLst/>
              <a:gdLst/>
              <a:ahLst/>
              <a:cxnLst/>
              <a:rect l="l" t="t" r="r" b="b"/>
              <a:pathLst>
                <a:path w="2179548" h="2569793">
                  <a:moveTo>
                    <a:pt x="47712" y="0"/>
                  </a:moveTo>
                  <a:lnTo>
                    <a:pt x="2131836" y="0"/>
                  </a:lnTo>
                  <a:cubicBezTo>
                    <a:pt x="2144490" y="0"/>
                    <a:pt x="2156625" y="5027"/>
                    <a:pt x="2165573" y="13974"/>
                  </a:cubicBezTo>
                  <a:cubicBezTo>
                    <a:pt x="2174521" y="22922"/>
                    <a:pt x="2179548" y="35058"/>
                    <a:pt x="2179548" y="47712"/>
                  </a:cubicBezTo>
                  <a:lnTo>
                    <a:pt x="2179548" y="2522081"/>
                  </a:lnTo>
                  <a:cubicBezTo>
                    <a:pt x="2179548" y="2534735"/>
                    <a:pt x="2174521" y="2546871"/>
                    <a:pt x="2165573" y="2555819"/>
                  </a:cubicBezTo>
                  <a:cubicBezTo>
                    <a:pt x="2156625" y="2564766"/>
                    <a:pt x="2144490" y="2569793"/>
                    <a:pt x="2131836" y="2569793"/>
                  </a:cubicBezTo>
                  <a:lnTo>
                    <a:pt x="47712" y="2569793"/>
                  </a:lnTo>
                  <a:cubicBezTo>
                    <a:pt x="35058" y="2569793"/>
                    <a:pt x="22922" y="2564766"/>
                    <a:pt x="13974" y="2555819"/>
                  </a:cubicBezTo>
                  <a:cubicBezTo>
                    <a:pt x="5027" y="2546871"/>
                    <a:pt x="0" y="2534735"/>
                    <a:pt x="0" y="2522081"/>
                  </a:cubicBezTo>
                  <a:lnTo>
                    <a:pt x="0" y="47712"/>
                  </a:lnTo>
                  <a:cubicBezTo>
                    <a:pt x="0" y="35058"/>
                    <a:pt x="5027" y="22922"/>
                    <a:pt x="13974" y="13974"/>
                  </a:cubicBezTo>
                  <a:cubicBezTo>
                    <a:pt x="22922" y="5027"/>
                    <a:pt x="35058" y="0"/>
                    <a:pt x="47712" y="0"/>
                  </a:cubicBezTo>
                  <a:close/>
                </a:path>
              </a:pathLst>
            </a:custGeom>
            <a:solidFill>
              <a:srgbClr val="002566">
                <a:alpha val="25882"/>
              </a:srgbClr>
            </a:solidFill>
          </p:spPr>
        </p:sp>
        <p:sp>
          <p:nvSpPr>
            <p:cNvPr id="4" name="TextBox 4"/>
            <p:cNvSpPr txBox="1"/>
            <p:nvPr/>
          </p:nvSpPr>
          <p:spPr>
            <a:xfrm>
              <a:off x="0" y="-28575"/>
              <a:ext cx="2179548" cy="2598368"/>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393547" y="3139324"/>
            <a:ext cx="17830800" cy="3231654"/>
          </a:xfrm>
          <a:prstGeom prst="rect">
            <a:avLst/>
          </a:prstGeom>
        </p:spPr>
        <p:txBody>
          <a:bodyPr wrap="square" lIns="0" tIns="0" rIns="0" bIns="0" rtlCol="0" anchor="t">
            <a:spAutoFit/>
          </a:bodyPr>
          <a:lstStyle/>
          <a:p>
            <a:pPr algn="r">
              <a:lnSpc>
                <a:spcPts val="12600"/>
              </a:lnSpc>
            </a:pPr>
            <a:r>
              <a:rPr lang="en-US" sz="12300" b="1" dirty="0">
                <a:solidFill>
                  <a:schemeClr val="tx2"/>
                </a:solidFill>
                <a:latin typeface="Sarabun Bold"/>
                <a:ea typeface="Sarabun Bold"/>
                <a:cs typeface="Sarabun Bold"/>
                <a:sym typeface="Sarabun Bold"/>
              </a:rPr>
              <a:t>AGENTIC AI LEADERSHIP PERFORMANCE </a:t>
            </a:r>
          </a:p>
        </p:txBody>
      </p:sp>
      <p:sp>
        <p:nvSpPr>
          <p:cNvPr id="11" name="TextBox 11"/>
          <p:cNvSpPr txBox="1"/>
          <p:nvPr/>
        </p:nvSpPr>
        <p:spPr>
          <a:xfrm>
            <a:off x="11446586" y="6447696"/>
            <a:ext cx="5012614" cy="1051570"/>
          </a:xfrm>
          <a:prstGeom prst="rect">
            <a:avLst/>
          </a:prstGeom>
        </p:spPr>
        <p:txBody>
          <a:bodyPr wrap="square" lIns="0" tIns="0" rIns="0" bIns="0" rtlCol="0" anchor="t">
            <a:spAutoFit/>
          </a:bodyPr>
          <a:lstStyle/>
          <a:p>
            <a:pPr>
              <a:lnSpc>
                <a:spcPts val="4070"/>
              </a:lnSpc>
            </a:pPr>
            <a:r>
              <a:rPr lang="en-US" sz="3700" b="1" i="1" dirty="0">
                <a:solidFill>
                  <a:schemeClr val="tx2"/>
                </a:solidFill>
                <a:latin typeface="Sarabun Italics"/>
                <a:ea typeface="Sarabun Italics"/>
                <a:cs typeface="Sarabun Italics"/>
                <a:sym typeface="Sarabun Italics"/>
              </a:rPr>
              <a:t>                                  </a:t>
            </a:r>
          </a:p>
          <a:p>
            <a:pPr algn="r">
              <a:lnSpc>
                <a:spcPts val="4070"/>
              </a:lnSpc>
            </a:pPr>
            <a:r>
              <a:rPr lang="en-US" sz="3700" b="1" i="1" dirty="0">
                <a:solidFill>
                  <a:schemeClr val="tx2"/>
                </a:solidFill>
                <a:latin typeface="Sarabun Italics"/>
                <a:ea typeface="Sarabun Italics"/>
                <a:cs typeface="Sarabun Italics"/>
                <a:sym typeface="Sarabun Italics"/>
              </a:rPr>
              <a:t>      </a:t>
            </a:r>
          </a:p>
        </p:txBody>
      </p:sp>
      <p:sp>
        <p:nvSpPr>
          <p:cNvPr id="16" name="AutoShape 16"/>
          <p:cNvSpPr/>
          <p:nvPr/>
        </p:nvSpPr>
        <p:spPr>
          <a:xfrm flipV="1">
            <a:off x="6774043" y="6210300"/>
            <a:ext cx="11450304" cy="0"/>
          </a:xfrm>
          <a:prstGeom prst="line">
            <a:avLst/>
          </a:prstGeom>
          <a:ln w="38100" cap="flat">
            <a:solidFill>
              <a:schemeClr val="tx2"/>
            </a:solidFill>
            <a:prstDash val="solid"/>
            <a:headEnd type="none" w="sm" len="sm"/>
            <a:tailEnd type="none" w="sm" len="sm"/>
          </a:ln>
        </p:spPr>
        <p:txBody>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a:off x="336372" y="-1269014"/>
            <a:ext cx="8649698" cy="4595427"/>
            <a:chOff x="0" y="0"/>
            <a:chExt cx="2278110" cy="1210318"/>
          </a:xfrm>
        </p:grpSpPr>
        <p:sp>
          <p:nvSpPr>
            <p:cNvPr id="3" name="Freeform 3"/>
            <p:cNvSpPr/>
            <p:nvPr/>
          </p:nvSpPr>
          <p:spPr>
            <a:xfrm>
              <a:off x="0" y="0"/>
              <a:ext cx="2278110" cy="1210318"/>
            </a:xfrm>
            <a:custGeom>
              <a:avLst/>
              <a:gdLst/>
              <a:ahLst/>
              <a:cxnLst/>
              <a:rect l="l" t="t" r="r" b="b"/>
              <a:pathLst>
                <a:path w="2278110" h="1210318">
                  <a:moveTo>
                    <a:pt x="45648" y="0"/>
                  </a:moveTo>
                  <a:lnTo>
                    <a:pt x="2232462" y="0"/>
                  </a:lnTo>
                  <a:cubicBezTo>
                    <a:pt x="2257673" y="0"/>
                    <a:pt x="2278110" y="20437"/>
                    <a:pt x="2278110" y="45648"/>
                  </a:cubicBezTo>
                  <a:lnTo>
                    <a:pt x="2278110" y="1164671"/>
                  </a:lnTo>
                  <a:cubicBezTo>
                    <a:pt x="2278110" y="1176777"/>
                    <a:pt x="2273301" y="1188388"/>
                    <a:pt x="2264740" y="1196948"/>
                  </a:cubicBezTo>
                  <a:cubicBezTo>
                    <a:pt x="2256179" y="1205509"/>
                    <a:pt x="2244569" y="1210318"/>
                    <a:pt x="2232462" y="1210318"/>
                  </a:cubicBezTo>
                  <a:lnTo>
                    <a:pt x="45648" y="1210318"/>
                  </a:lnTo>
                  <a:cubicBezTo>
                    <a:pt x="33541" y="1210318"/>
                    <a:pt x="21930" y="1205509"/>
                    <a:pt x="13370" y="1196948"/>
                  </a:cubicBezTo>
                  <a:cubicBezTo>
                    <a:pt x="4809" y="1188388"/>
                    <a:pt x="0" y="1176777"/>
                    <a:pt x="0" y="1164671"/>
                  </a:cubicBezTo>
                  <a:lnTo>
                    <a:pt x="0" y="45648"/>
                  </a:lnTo>
                  <a:cubicBezTo>
                    <a:pt x="0" y="33541"/>
                    <a:pt x="4809" y="21930"/>
                    <a:pt x="13370" y="13370"/>
                  </a:cubicBezTo>
                  <a:cubicBezTo>
                    <a:pt x="21930" y="4809"/>
                    <a:pt x="33541" y="0"/>
                    <a:pt x="45648" y="0"/>
                  </a:cubicBezTo>
                  <a:close/>
                </a:path>
              </a:pathLst>
            </a:custGeom>
            <a:solidFill>
              <a:srgbClr val="002566"/>
            </a:solidFill>
          </p:spPr>
        </p:sp>
        <p:sp>
          <p:nvSpPr>
            <p:cNvPr id="4" name="TextBox 4"/>
            <p:cNvSpPr txBox="1"/>
            <p:nvPr/>
          </p:nvSpPr>
          <p:spPr>
            <a:xfrm>
              <a:off x="0" y="-28575"/>
              <a:ext cx="2278110" cy="123889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622035" y="-231216"/>
            <a:ext cx="2988574" cy="2282184"/>
          </a:xfrm>
          <a:custGeom>
            <a:avLst/>
            <a:gdLst/>
            <a:ahLst/>
            <a:cxnLst/>
            <a:rect l="l" t="t" r="r" b="b"/>
            <a:pathLst>
              <a:path w="2988574" h="2282184">
                <a:moveTo>
                  <a:pt x="0" y="0"/>
                </a:moveTo>
                <a:lnTo>
                  <a:pt x="2988574" y="0"/>
                </a:lnTo>
                <a:lnTo>
                  <a:pt x="2988574" y="2282184"/>
                </a:lnTo>
                <a:lnTo>
                  <a:pt x="0" y="22821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2185386" y="1085850"/>
            <a:ext cx="6800683" cy="899160"/>
          </a:xfrm>
          <a:prstGeom prst="rect">
            <a:avLst/>
          </a:prstGeom>
        </p:spPr>
        <p:txBody>
          <a:bodyPr lIns="0" tIns="0" rIns="0" bIns="0" rtlCol="0" anchor="t">
            <a:spAutoFit/>
          </a:bodyPr>
          <a:lstStyle/>
          <a:p>
            <a:pPr algn="l">
              <a:lnSpc>
                <a:spcPts val="6929"/>
              </a:lnSpc>
            </a:pPr>
            <a:r>
              <a:rPr lang="en-US" sz="6299" b="1">
                <a:solidFill>
                  <a:srgbClr val="FFFFFF"/>
                </a:solidFill>
                <a:latin typeface="Sarabun Bold"/>
                <a:ea typeface="Sarabun Bold"/>
                <a:cs typeface="Sarabun Bold"/>
                <a:sym typeface="Sarabun Bold"/>
              </a:rPr>
              <a:t>INTRODUCTION</a:t>
            </a:r>
          </a:p>
        </p:txBody>
      </p:sp>
      <p:sp>
        <p:nvSpPr>
          <p:cNvPr id="7" name="TextBox 7"/>
          <p:cNvSpPr txBox="1"/>
          <p:nvPr/>
        </p:nvSpPr>
        <p:spPr>
          <a:xfrm>
            <a:off x="1028700" y="3877577"/>
            <a:ext cx="16230600" cy="4378331"/>
          </a:xfrm>
          <a:prstGeom prst="rect">
            <a:avLst/>
          </a:prstGeom>
        </p:spPr>
        <p:txBody>
          <a:bodyPr lIns="0" tIns="0" rIns="0" bIns="0" rtlCol="0" anchor="t">
            <a:spAutoFit/>
          </a:bodyPr>
          <a:lstStyle/>
          <a:p>
            <a:pPr algn="just">
              <a:lnSpc>
                <a:spcPts val="3850"/>
              </a:lnSpc>
            </a:pPr>
            <a:r>
              <a:rPr lang="en-US" sz="3500">
                <a:solidFill>
                  <a:srgbClr val="002566"/>
                </a:solidFill>
                <a:latin typeface="Sarabun"/>
                <a:ea typeface="Sarabun"/>
                <a:cs typeface="Sarabun"/>
                <a:sym typeface="Sarabun"/>
              </a:rPr>
              <a:t>In today’s rapidly evolving digital landscape, Artificial Intelligence is transforming the way organizations operate and make decisions. One of the most advanced forms of AI is Agentic AI, which has the capability to act autonomously, adapt to dynamic environments, and support leadership-level decision-making.</a:t>
            </a:r>
          </a:p>
          <a:p>
            <a:pPr algn="just">
              <a:lnSpc>
                <a:spcPts val="3850"/>
              </a:lnSpc>
            </a:pPr>
            <a:endParaRPr lang="en-US" sz="3500">
              <a:solidFill>
                <a:srgbClr val="002566"/>
              </a:solidFill>
              <a:latin typeface="Sarabun"/>
              <a:ea typeface="Sarabun"/>
              <a:cs typeface="Sarabun"/>
              <a:sym typeface="Sarabun"/>
            </a:endParaRPr>
          </a:p>
          <a:p>
            <a:pPr algn="just">
              <a:lnSpc>
                <a:spcPts val="3850"/>
              </a:lnSpc>
            </a:pPr>
            <a:r>
              <a:rPr lang="en-US" sz="3500">
                <a:solidFill>
                  <a:srgbClr val="002566"/>
                </a:solidFill>
                <a:latin typeface="Sarabun"/>
                <a:ea typeface="Sarabun"/>
                <a:cs typeface="Sarabun"/>
                <a:sym typeface="Sarabun"/>
              </a:rPr>
              <a:t>This presentation focuses on the AgenticAI Leadership Dataset, which provides valuable insights into how AI adoption influences organizational performance, trust, and productivity. By analyzing this dataset, we aim to understand the relationship between AI-driven systems and business outcomes across different industries.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a:off x="-546313" y="-140317"/>
            <a:ext cx="19174567" cy="3005215"/>
            <a:chOff x="0" y="0"/>
            <a:chExt cx="5050092" cy="791497"/>
          </a:xfrm>
        </p:grpSpPr>
        <p:sp>
          <p:nvSpPr>
            <p:cNvPr id="3" name="Freeform 3"/>
            <p:cNvSpPr/>
            <p:nvPr/>
          </p:nvSpPr>
          <p:spPr>
            <a:xfrm>
              <a:off x="0" y="0"/>
              <a:ext cx="5050092" cy="791497"/>
            </a:xfrm>
            <a:custGeom>
              <a:avLst/>
              <a:gdLst/>
              <a:ahLst/>
              <a:cxnLst/>
              <a:rect l="l" t="t" r="r" b="b"/>
              <a:pathLst>
                <a:path w="5050092" h="791497">
                  <a:moveTo>
                    <a:pt x="20592" y="0"/>
                  </a:moveTo>
                  <a:lnTo>
                    <a:pt x="5029500" y="0"/>
                  </a:lnTo>
                  <a:cubicBezTo>
                    <a:pt x="5034961" y="0"/>
                    <a:pt x="5040199" y="2169"/>
                    <a:pt x="5044061" y="6031"/>
                  </a:cubicBezTo>
                  <a:cubicBezTo>
                    <a:pt x="5047922" y="9893"/>
                    <a:pt x="5050092" y="15130"/>
                    <a:pt x="5050092" y="20592"/>
                  </a:cubicBezTo>
                  <a:lnTo>
                    <a:pt x="5050092" y="770905"/>
                  </a:lnTo>
                  <a:cubicBezTo>
                    <a:pt x="5050092" y="776367"/>
                    <a:pt x="5047922" y="781604"/>
                    <a:pt x="5044061" y="785466"/>
                  </a:cubicBezTo>
                  <a:cubicBezTo>
                    <a:pt x="5040199" y="789327"/>
                    <a:pt x="5034961" y="791497"/>
                    <a:pt x="5029500" y="791497"/>
                  </a:cubicBezTo>
                  <a:lnTo>
                    <a:pt x="20592" y="791497"/>
                  </a:lnTo>
                  <a:cubicBezTo>
                    <a:pt x="15130" y="791497"/>
                    <a:pt x="9893" y="789327"/>
                    <a:pt x="6031" y="785466"/>
                  </a:cubicBezTo>
                  <a:cubicBezTo>
                    <a:pt x="2169" y="781604"/>
                    <a:pt x="0" y="776367"/>
                    <a:pt x="0" y="770905"/>
                  </a:cubicBezTo>
                  <a:lnTo>
                    <a:pt x="0" y="20592"/>
                  </a:lnTo>
                  <a:cubicBezTo>
                    <a:pt x="0" y="15130"/>
                    <a:pt x="2169" y="9893"/>
                    <a:pt x="6031" y="6031"/>
                  </a:cubicBezTo>
                  <a:cubicBezTo>
                    <a:pt x="9893" y="2169"/>
                    <a:pt x="15130" y="0"/>
                    <a:pt x="20592" y="0"/>
                  </a:cubicBezTo>
                  <a:close/>
                </a:path>
              </a:pathLst>
            </a:custGeom>
            <a:solidFill>
              <a:srgbClr val="002566"/>
            </a:solidFill>
          </p:spPr>
        </p:sp>
        <p:sp>
          <p:nvSpPr>
            <p:cNvPr id="4" name="TextBox 4"/>
            <p:cNvSpPr txBox="1"/>
            <p:nvPr/>
          </p:nvSpPr>
          <p:spPr>
            <a:xfrm>
              <a:off x="0" y="-28575"/>
              <a:ext cx="5050092" cy="82007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986635" y="7915100"/>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395392" y="-289569"/>
            <a:ext cx="2453660" cy="2413509"/>
          </a:xfrm>
          <a:custGeom>
            <a:avLst/>
            <a:gdLst/>
            <a:ahLst/>
            <a:cxnLst/>
            <a:rect l="l" t="t" r="r" b="b"/>
            <a:pathLst>
              <a:path w="2453660" h="2413509">
                <a:moveTo>
                  <a:pt x="0" y="0"/>
                </a:moveTo>
                <a:lnTo>
                  <a:pt x="2453660" y="0"/>
                </a:lnTo>
                <a:lnTo>
                  <a:pt x="2453660" y="2413509"/>
                </a:lnTo>
                <a:lnTo>
                  <a:pt x="0" y="24135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5929052" y="1182241"/>
            <a:ext cx="5423493" cy="941700"/>
          </a:xfrm>
          <a:prstGeom prst="rect">
            <a:avLst/>
          </a:prstGeom>
        </p:spPr>
        <p:txBody>
          <a:bodyPr lIns="0" tIns="0" rIns="0" bIns="0" rtlCol="0" anchor="t">
            <a:spAutoFit/>
          </a:bodyPr>
          <a:lstStyle/>
          <a:p>
            <a:pPr algn="l">
              <a:lnSpc>
                <a:spcPts val="7314"/>
              </a:lnSpc>
            </a:pPr>
            <a:r>
              <a:rPr lang="en-US" sz="6649" b="1">
                <a:solidFill>
                  <a:srgbClr val="FFFFFF"/>
                </a:solidFill>
                <a:latin typeface="Sarabun Bold"/>
                <a:ea typeface="Sarabun Bold"/>
                <a:cs typeface="Sarabun Bold"/>
                <a:sym typeface="Sarabun Bold"/>
              </a:rPr>
              <a:t>OBJECTIVES</a:t>
            </a:r>
          </a:p>
        </p:txBody>
      </p:sp>
      <p:sp>
        <p:nvSpPr>
          <p:cNvPr id="8" name="TextBox 8"/>
          <p:cNvSpPr txBox="1"/>
          <p:nvPr/>
        </p:nvSpPr>
        <p:spPr>
          <a:xfrm>
            <a:off x="1028700" y="2936869"/>
            <a:ext cx="14469094" cy="6321431"/>
          </a:xfrm>
          <a:prstGeom prst="rect">
            <a:avLst/>
          </a:prstGeom>
        </p:spPr>
        <p:txBody>
          <a:bodyPr lIns="0" tIns="0" rIns="0" bIns="0" rtlCol="0" anchor="t">
            <a:spAutoFit/>
          </a:bodyPr>
          <a:lstStyle/>
          <a:p>
            <a:pPr algn="just">
              <a:lnSpc>
                <a:spcPts val="3850"/>
              </a:lnSpc>
            </a:pPr>
            <a:endParaRPr dirty="0"/>
          </a:p>
          <a:p>
            <a:pPr algn="just">
              <a:lnSpc>
                <a:spcPts val="3850"/>
              </a:lnSpc>
            </a:pPr>
            <a:r>
              <a:rPr lang="en-US" sz="3500" dirty="0">
                <a:solidFill>
                  <a:srgbClr val="002566"/>
                </a:solidFill>
                <a:latin typeface="Sarabun"/>
                <a:ea typeface="Sarabun"/>
                <a:cs typeface="Sarabun"/>
                <a:sym typeface="Sarabun"/>
              </a:rPr>
              <a:t>The primary objective of this project is to analyze the impact of Agentic AI on organizational leadership and performance. </a:t>
            </a:r>
          </a:p>
          <a:p>
            <a:pPr algn="just">
              <a:lnSpc>
                <a:spcPts val="3850"/>
              </a:lnSpc>
            </a:pPr>
            <a:r>
              <a:rPr lang="en-US" sz="3500" dirty="0">
                <a:solidFill>
                  <a:srgbClr val="002566"/>
                </a:solidFill>
                <a:latin typeface="Sarabun"/>
                <a:ea typeface="Sarabun"/>
                <a:cs typeface="Sarabun"/>
                <a:sym typeface="Sarabun"/>
              </a:rPr>
              <a:t> </a:t>
            </a:r>
          </a:p>
          <a:p>
            <a:pPr algn="just">
              <a:lnSpc>
                <a:spcPts val="3850"/>
              </a:lnSpc>
            </a:pPr>
            <a:r>
              <a:rPr lang="en-US" sz="3500" dirty="0">
                <a:solidFill>
                  <a:srgbClr val="002566"/>
                </a:solidFill>
                <a:latin typeface="Sarabun"/>
                <a:ea typeface="Sarabun"/>
                <a:cs typeface="Sarabun"/>
                <a:sym typeface="Sarabun"/>
              </a:rPr>
              <a:t>This includes:</a:t>
            </a:r>
          </a:p>
          <a:p>
            <a:pPr algn="just">
              <a:lnSpc>
                <a:spcPts val="3850"/>
              </a:lnSpc>
            </a:pPr>
            <a:endParaRPr lang="en-US" sz="3500" dirty="0">
              <a:solidFill>
                <a:srgbClr val="002566"/>
              </a:solidFill>
              <a:latin typeface="Sarabun"/>
              <a:ea typeface="Sarabun"/>
              <a:cs typeface="Sarabun"/>
              <a:sym typeface="Sarabun"/>
            </a:endParaRPr>
          </a:p>
          <a:p>
            <a:pPr marL="755753" lvl="1" indent="-377876" algn="just">
              <a:lnSpc>
                <a:spcPts val="3850"/>
              </a:lnSpc>
              <a:buFont typeface="Arial"/>
              <a:buChar char="•"/>
            </a:pPr>
            <a:r>
              <a:rPr lang="en-US" sz="3500" dirty="0">
                <a:solidFill>
                  <a:srgbClr val="002566"/>
                </a:solidFill>
                <a:latin typeface="Sarabun"/>
                <a:ea typeface="Sarabun"/>
                <a:cs typeface="Sarabun"/>
                <a:sym typeface="Sarabun"/>
              </a:rPr>
              <a:t> Understanding how trust in AI affects adoption</a:t>
            </a:r>
          </a:p>
          <a:p>
            <a:pPr marL="755753" lvl="1" indent="-377876" algn="just">
              <a:lnSpc>
                <a:spcPts val="3850"/>
              </a:lnSpc>
              <a:buFont typeface="Arial"/>
              <a:buChar char="•"/>
            </a:pPr>
            <a:r>
              <a:rPr lang="en-US" sz="3500" dirty="0">
                <a:solidFill>
                  <a:srgbClr val="002566"/>
                </a:solidFill>
                <a:latin typeface="Sarabun"/>
                <a:ea typeface="Sarabun"/>
                <a:cs typeface="Sarabun"/>
                <a:sym typeface="Sarabun"/>
              </a:rPr>
              <a:t>Evaluating productivity improvements through AI implementation</a:t>
            </a:r>
          </a:p>
          <a:p>
            <a:pPr marL="755753" lvl="1" indent="-377876" algn="just">
              <a:lnSpc>
                <a:spcPts val="3850"/>
              </a:lnSpc>
              <a:buFont typeface="Arial"/>
              <a:buChar char="•"/>
            </a:pPr>
            <a:r>
              <a:rPr lang="en-US" sz="3500" dirty="0">
                <a:solidFill>
                  <a:srgbClr val="002566"/>
                </a:solidFill>
                <a:latin typeface="Sarabun"/>
                <a:ea typeface="Sarabun"/>
                <a:cs typeface="Sarabun"/>
                <a:sym typeface="Sarabun"/>
              </a:rPr>
              <a:t> Analyzing task success rates across industries</a:t>
            </a:r>
          </a:p>
          <a:p>
            <a:pPr marL="755753" lvl="1" indent="-377876" algn="just">
              <a:lnSpc>
                <a:spcPts val="3850"/>
              </a:lnSpc>
              <a:buFont typeface="Arial"/>
              <a:buChar char="•"/>
            </a:pPr>
            <a:r>
              <a:rPr lang="en-US" sz="3500" dirty="0">
                <a:solidFill>
                  <a:srgbClr val="002566"/>
                </a:solidFill>
                <a:latin typeface="Sarabun"/>
                <a:ea typeface="Sarabun"/>
                <a:cs typeface="Sarabun"/>
                <a:sym typeface="Sarabun"/>
              </a:rPr>
              <a:t>Identifying patterns between AI adoption and performance levels</a:t>
            </a:r>
          </a:p>
          <a:p>
            <a:pPr algn="just">
              <a:lnSpc>
                <a:spcPts val="3850"/>
              </a:lnSpc>
            </a:pPr>
            <a:endParaRPr lang="en-US" sz="3500" dirty="0">
              <a:solidFill>
                <a:srgbClr val="002566"/>
              </a:solidFill>
              <a:latin typeface="Sarabun"/>
              <a:ea typeface="Sarabun"/>
              <a:cs typeface="Sarabun"/>
              <a:sym typeface="Sarabun"/>
            </a:endParaRPr>
          </a:p>
          <a:p>
            <a:pPr algn="just">
              <a:lnSpc>
                <a:spcPts val="3850"/>
              </a:lnSpc>
            </a:pPr>
            <a:r>
              <a:rPr lang="en-US" sz="3500" dirty="0">
                <a:solidFill>
                  <a:srgbClr val="002566"/>
                </a:solidFill>
                <a:latin typeface="Sarabun"/>
                <a:ea typeface="Sarabun"/>
                <a:cs typeface="Sarabun"/>
                <a:sym typeface="Sarabun"/>
              </a:rPr>
              <a:t>The goal is to derive meaningful insights that highlight the importance of AI in modern decision-making and organizational growth.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200946">
            <a:off x="-3415698" y="-1152283"/>
            <a:ext cx="12019375" cy="12893129"/>
            <a:chOff x="0" y="0"/>
            <a:chExt cx="2991969" cy="3209471"/>
          </a:xfrm>
        </p:grpSpPr>
        <p:sp>
          <p:nvSpPr>
            <p:cNvPr id="3" name="Freeform 3"/>
            <p:cNvSpPr/>
            <p:nvPr/>
          </p:nvSpPr>
          <p:spPr>
            <a:xfrm>
              <a:off x="0" y="0"/>
              <a:ext cx="2991969" cy="3209471"/>
            </a:xfrm>
            <a:custGeom>
              <a:avLst/>
              <a:gdLst/>
              <a:ahLst/>
              <a:cxnLst/>
              <a:rect l="l" t="t" r="r" b="b"/>
              <a:pathLst>
                <a:path w="2991969" h="3209471">
                  <a:moveTo>
                    <a:pt x="32850" y="0"/>
                  </a:moveTo>
                  <a:lnTo>
                    <a:pt x="2959118" y="0"/>
                  </a:lnTo>
                  <a:cubicBezTo>
                    <a:pt x="2967831" y="0"/>
                    <a:pt x="2976186" y="3461"/>
                    <a:pt x="2982347" y="9622"/>
                  </a:cubicBezTo>
                  <a:cubicBezTo>
                    <a:pt x="2988508" y="15782"/>
                    <a:pt x="2991969" y="24138"/>
                    <a:pt x="2991969" y="32850"/>
                  </a:cubicBezTo>
                  <a:lnTo>
                    <a:pt x="2991969" y="3176621"/>
                  </a:lnTo>
                  <a:cubicBezTo>
                    <a:pt x="2991969" y="3185333"/>
                    <a:pt x="2988508" y="3193689"/>
                    <a:pt x="2982347" y="3199849"/>
                  </a:cubicBezTo>
                  <a:cubicBezTo>
                    <a:pt x="2976186" y="3206010"/>
                    <a:pt x="2967831" y="3209471"/>
                    <a:pt x="2959118" y="3209471"/>
                  </a:cubicBezTo>
                  <a:lnTo>
                    <a:pt x="32850" y="3209471"/>
                  </a:lnTo>
                  <a:cubicBezTo>
                    <a:pt x="14708" y="3209471"/>
                    <a:pt x="0" y="3194764"/>
                    <a:pt x="0" y="3176621"/>
                  </a:cubicBezTo>
                  <a:lnTo>
                    <a:pt x="0" y="32850"/>
                  </a:lnTo>
                  <a:cubicBezTo>
                    <a:pt x="0" y="24138"/>
                    <a:pt x="3461" y="15782"/>
                    <a:pt x="9622" y="9622"/>
                  </a:cubicBezTo>
                  <a:cubicBezTo>
                    <a:pt x="15782" y="3461"/>
                    <a:pt x="24138" y="0"/>
                    <a:pt x="32850" y="0"/>
                  </a:cubicBezTo>
                  <a:close/>
                </a:path>
              </a:pathLst>
            </a:custGeom>
            <a:solidFill>
              <a:srgbClr val="002566">
                <a:alpha val="13725"/>
              </a:srgbClr>
            </a:solidFill>
          </p:spPr>
        </p:sp>
        <p:sp>
          <p:nvSpPr>
            <p:cNvPr id="4" name="TextBox 4"/>
            <p:cNvSpPr txBox="1"/>
            <p:nvPr/>
          </p:nvSpPr>
          <p:spPr>
            <a:xfrm>
              <a:off x="0" y="-28575"/>
              <a:ext cx="2991969" cy="323804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614699" y="652053"/>
            <a:ext cx="828002" cy="2347429"/>
          </a:xfrm>
          <a:custGeom>
            <a:avLst/>
            <a:gdLst/>
            <a:ahLst/>
            <a:cxnLst/>
            <a:rect l="l" t="t" r="r" b="b"/>
            <a:pathLst>
              <a:path w="828002" h="2347429">
                <a:moveTo>
                  <a:pt x="0" y="0"/>
                </a:moveTo>
                <a:lnTo>
                  <a:pt x="828002" y="0"/>
                </a:lnTo>
                <a:lnTo>
                  <a:pt x="828002" y="2347429"/>
                </a:lnTo>
                <a:lnTo>
                  <a:pt x="0" y="234742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0" y="1371110"/>
            <a:ext cx="18288000" cy="7544780"/>
          </a:xfrm>
          <a:custGeom>
            <a:avLst/>
            <a:gdLst/>
            <a:ahLst/>
            <a:cxnLst/>
            <a:rect l="l" t="t" r="r" b="b"/>
            <a:pathLst>
              <a:path w="18288000" h="7544780">
                <a:moveTo>
                  <a:pt x="0" y="0"/>
                </a:moveTo>
                <a:lnTo>
                  <a:pt x="18288000" y="0"/>
                </a:lnTo>
                <a:lnTo>
                  <a:pt x="18288000" y="7544780"/>
                </a:lnTo>
                <a:lnTo>
                  <a:pt x="0" y="7544780"/>
                </a:lnTo>
                <a:lnTo>
                  <a:pt x="0" y="0"/>
                </a:lnTo>
                <a:close/>
              </a:path>
            </a:pathLst>
          </a:custGeom>
          <a:blipFill>
            <a:blip r:embed="rId3"/>
            <a:stretch>
              <a:fillRect l="-259" r="-259" b="-810"/>
            </a:stretch>
          </a:blipFill>
        </p:spPr>
      </p:sp>
      <p:sp>
        <p:nvSpPr>
          <p:cNvPr id="7" name="TextBox 7"/>
          <p:cNvSpPr txBox="1"/>
          <p:nvPr/>
        </p:nvSpPr>
        <p:spPr>
          <a:xfrm>
            <a:off x="7420683" y="246602"/>
            <a:ext cx="3446633" cy="868052"/>
          </a:xfrm>
          <a:prstGeom prst="rect">
            <a:avLst/>
          </a:prstGeom>
        </p:spPr>
        <p:txBody>
          <a:bodyPr lIns="0" tIns="0" rIns="0" bIns="0" rtlCol="0" anchor="t">
            <a:spAutoFit/>
          </a:bodyPr>
          <a:lstStyle/>
          <a:p>
            <a:pPr algn="l">
              <a:lnSpc>
                <a:spcPts val="6710"/>
              </a:lnSpc>
            </a:pPr>
            <a:r>
              <a:rPr lang="en-US" sz="6100" b="1">
                <a:solidFill>
                  <a:srgbClr val="002566"/>
                </a:solidFill>
                <a:latin typeface="Sarabun Bold"/>
                <a:ea typeface="Sarabun Bold"/>
                <a:cs typeface="Sarabun Bold"/>
                <a:sym typeface="Sarabun Bold"/>
              </a:rPr>
              <a:t>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566"/>
        </a:solidFill>
        <a:effectLst/>
      </p:bgPr>
    </p:bg>
    <p:spTree>
      <p:nvGrpSpPr>
        <p:cNvPr id="1" name=""/>
        <p:cNvGrpSpPr/>
        <p:nvPr/>
      </p:nvGrpSpPr>
      <p:grpSpPr>
        <a:xfrm>
          <a:off x="0" y="0"/>
          <a:ext cx="0" cy="0"/>
          <a:chOff x="0" y="0"/>
          <a:chExt cx="0" cy="0"/>
        </a:xfrm>
      </p:grpSpPr>
      <p:sp>
        <p:nvSpPr>
          <p:cNvPr id="2" name="Freeform 2"/>
          <p:cNvSpPr/>
          <p:nvPr/>
        </p:nvSpPr>
        <p:spPr>
          <a:xfrm>
            <a:off x="0" y="339948"/>
            <a:ext cx="18288000" cy="9947052"/>
          </a:xfrm>
          <a:custGeom>
            <a:avLst/>
            <a:gdLst/>
            <a:ahLst/>
            <a:cxnLst/>
            <a:rect l="l" t="t" r="r" b="b"/>
            <a:pathLst>
              <a:path w="18288000" h="9947052">
                <a:moveTo>
                  <a:pt x="0" y="0"/>
                </a:moveTo>
                <a:lnTo>
                  <a:pt x="18288000" y="0"/>
                </a:lnTo>
                <a:lnTo>
                  <a:pt x="18288000" y="9947052"/>
                </a:lnTo>
                <a:lnTo>
                  <a:pt x="0" y="9947052"/>
                </a:lnTo>
                <a:lnTo>
                  <a:pt x="0" y="0"/>
                </a:lnTo>
                <a:close/>
              </a:path>
            </a:pathLst>
          </a:custGeom>
          <a:blipFill>
            <a:blip r:embed="rId2"/>
            <a:stretch>
              <a:fillRect t="-217" r="-162" b="-1296"/>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a:off x="1761214" y="2142764"/>
            <a:ext cx="13975363" cy="7503874"/>
            <a:chOff x="0" y="0"/>
            <a:chExt cx="5660725" cy="3039447"/>
          </a:xfrm>
        </p:grpSpPr>
        <p:sp>
          <p:nvSpPr>
            <p:cNvPr id="3" name="Freeform 3"/>
            <p:cNvSpPr/>
            <p:nvPr/>
          </p:nvSpPr>
          <p:spPr>
            <a:xfrm>
              <a:off x="0" y="0"/>
              <a:ext cx="5660725" cy="3039447"/>
            </a:xfrm>
            <a:custGeom>
              <a:avLst/>
              <a:gdLst/>
              <a:ahLst/>
              <a:cxnLst/>
              <a:rect l="l" t="t" r="r" b="b"/>
              <a:pathLst>
                <a:path w="5660725" h="3039447">
                  <a:moveTo>
                    <a:pt x="28252" y="0"/>
                  </a:moveTo>
                  <a:lnTo>
                    <a:pt x="5632472" y="0"/>
                  </a:lnTo>
                  <a:cubicBezTo>
                    <a:pt x="5648076" y="0"/>
                    <a:pt x="5660725" y="12649"/>
                    <a:pt x="5660725" y="28252"/>
                  </a:cubicBezTo>
                  <a:lnTo>
                    <a:pt x="5660725" y="3011194"/>
                  </a:lnTo>
                  <a:cubicBezTo>
                    <a:pt x="5660725" y="3026798"/>
                    <a:pt x="5648076" y="3039447"/>
                    <a:pt x="5632472" y="3039447"/>
                  </a:cubicBezTo>
                  <a:lnTo>
                    <a:pt x="28252" y="3039447"/>
                  </a:lnTo>
                  <a:cubicBezTo>
                    <a:pt x="12649" y="3039447"/>
                    <a:pt x="0" y="3026798"/>
                    <a:pt x="0" y="3011194"/>
                  </a:cubicBezTo>
                  <a:lnTo>
                    <a:pt x="0" y="28252"/>
                  </a:lnTo>
                  <a:cubicBezTo>
                    <a:pt x="0" y="12649"/>
                    <a:pt x="12649" y="0"/>
                    <a:pt x="28252" y="0"/>
                  </a:cubicBezTo>
                  <a:close/>
                </a:path>
              </a:pathLst>
            </a:custGeom>
            <a:solidFill>
              <a:srgbClr val="002566"/>
            </a:solidFill>
          </p:spPr>
        </p:sp>
        <p:sp>
          <p:nvSpPr>
            <p:cNvPr id="4" name="TextBox 4"/>
            <p:cNvSpPr txBox="1"/>
            <p:nvPr/>
          </p:nvSpPr>
          <p:spPr>
            <a:xfrm>
              <a:off x="0" y="-28575"/>
              <a:ext cx="5660725" cy="306802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2038405" y="23632"/>
            <a:ext cx="3799620" cy="3737444"/>
          </a:xfrm>
          <a:custGeom>
            <a:avLst/>
            <a:gdLst/>
            <a:ahLst/>
            <a:cxnLst/>
            <a:rect l="l" t="t" r="r" b="b"/>
            <a:pathLst>
              <a:path w="3799620" h="3737444">
                <a:moveTo>
                  <a:pt x="0" y="0"/>
                </a:moveTo>
                <a:lnTo>
                  <a:pt x="3799619" y="0"/>
                </a:lnTo>
                <a:lnTo>
                  <a:pt x="3799619" y="3737444"/>
                </a:lnTo>
                <a:lnTo>
                  <a:pt x="0" y="373744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6791663" y="6057098"/>
            <a:ext cx="4393658" cy="4393658"/>
          </a:xfrm>
          <a:custGeom>
            <a:avLst/>
            <a:gdLst/>
            <a:ahLst/>
            <a:cxnLst/>
            <a:rect l="l" t="t" r="r" b="b"/>
            <a:pathLst>
              <a:path w="4393658" h="4393658">
                <a:moveTo>
                  <a:pt x="0" y="0"/>
                </a:moveTo>
                <a:lnTo>
                  <a:pt x="4393659" y="0"/>
                </a:lnTo>
                <a:lnTo>
                  <a:pt x="4393659" y="4393658"/>
                </a:lnTo>
                <a:lnTo>
                  <a:pt x="0" y="439365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761214" y="878009"/>
            <a:ext cx="14765572" cy="872997"/>
          </a:xfrm>
          <a:prstGeom prst="rect">
            <a:avLst/>
          </a:prstGeom>
        </p:spPr>
        <p:txBody>
          <a:bodyPr lIns="0" tIns="0" rIns="0" bIns="0" rtlCol="0" anchor="t">
            <a:spAutoFit/>
          </a:bodyPr>
          <a:lstStyle/>
          <a:p>
            <a:pPr algn="ctr">
              <a:lnSpc>
                <a:spcPts val="6565"/>
              </a:lnSpc>
            </a:pPr>
            <a:r>
              <a:rPr lang="en-US" sz="6699" b="1">
                <a:solidFill>
                  <a:srgbClr val="002566"/>
                </a:solidFill>
                <a:latin typeface="Sarabun Bold"/>
                <a:ea typeface="Sarabun Bold"/>
                <a:cs typeface="Sarabun Bold"/>
                <a:sym typeface="Sarabun Bold"/>
              </a:rPr>
              <a:t>CRITERIA USED</a:t>
            </a:r>
          </a:p>
        </p:txBody>
      </p:sp>
      <p:sp>
        <p:nvSpPr>
          <p:cNvPr id="8" name="TextBox 8"/>
          <p:cNvSpPr txBox="1"/>
          <p:nvPr/>
        </p:nvSpPr>
        <p:spPr>
          <a:xfrm>
            <a:off x="4383288" y="3281596"/>
            <a:ext cx="9521425" cy="6792422"/>
          </a:xfrm>
          <a:prstGeom prst="rect">
            <a:avLst/>
          </a:prstGeom>
        </p:spPr>
        <p:txBody>
          <a:bodyPr lIns="0" tIns="0" rIns="0" bIns="0" rtlCol="0" anchor="t">
            <a:spAutoFit/>
          </a:bodyPr>
          <a:lstStyle/>
          <a:p>
            <a:pPr marL="638373" lvl="1" indent="-319187" algn="l">
              <a:lnSpc>
                <a:spcPts val="4139"/>
              </a:lnSpc>
              <a:buFont typeface="Arial"/>
              <a:buChar char="•"/>
            </a:pPr>
            <a:r>
              <a:rPr lang="en-US" sz="2956">
                <a:solidFill>
                  <a:srgbClr val="FFFFFF"/>
                </a:solidFill>
                <a:latin typeface="Sarabun"/>
                <a:ea typeface="Sarabun"/>
                <a:cs typeface="Sarabun"/>
                <a:sym typeface="Sarabun"/>
              </a:rPr>
              <a:t>Trust Level </a:t>
            </a:r>
          </a:p>
          <a:p>
            <a:pPr marL="638373" lvl="1" indent="-319187" algn="l">
              <a:lnSpc>
                <a:spcPts val="4139"/>
              </a:lnSpc>
              <a:buFont typeface="Arial"/>
              <a:buChar char="•"/>
            </a:pPr>
            <a:r>
              <a:rPr lang="en-US" sz="2956">
                <a:solidFill>
                  <a:srgbClr val="FFFFFF"/>
                </a:solidFill>
                <a:latin typeface="Sarabun"/>
                <a:ea typeface="Sarabun"/>
                <a:cs typeface="Sarabun"/>
                <a:sym typeface="Sarabun"/>
              </a:rPr>
              <a:t>Industry  </a:t>
            </a:r>
          </a:p>
          <a:p>
            <a:pPr marL="638373" lvl="1" indent="-319187" algn="l">
              <a:lnSpc>
                <a:spcPts val="4139"/>
              </a:lnSpc>
              <a:buFont typeface="Arial"/>
              <a:buChar char="•"/>
            </a:pPr>
            <a:r>
              <a:rPr lang="en-US" sz="2956">
                <a:solidFill>
                  <a:srgbClr val="FFFFFF"/>
                </a:solidFill>
                <a:latin typeface="Sarabun"/>
                <a:ea typeface="Sarabun"/>
                <a:cs typeface="Sarabun"/>
                <a:sym typeface="Sarabun"/>
              </a:rPr>
              <a:t>Performance Category                    </a:t>
            </a:r>
          </a:p>
          <a:p>
            <a:pPr marL="638373" lvl="1" indent="-319187" algn="l">
              <a:lnSpc>
                <a:spcPts val="4139"/>
              </a:lnSpc>
              <a:buFont typeface="Arial"/>
              <a:buChar char="•"/>
            </a:pPr>
            <a:r>
              <a:rPr lang="en-US" sz="2956">
                <a:solidFill>
                  <a:srgbClr val="FFFFFF"/>
                </a:solidFill>
                <a:latin typeface="Sarabun"/>
                <a:ea typeface="Sarabun"/>
                <a:cs typeface="Sarabun"/>
                <a:sym typeface="Sarabun"/>
              </a:rPr>
              <a:t>Adoption Success                              </a:t>
            </a:r>
          </a:p>
          <a:p>
            <a:pPr marL="638375" lvl="1" indent="-319187" algn="l">
              <a:lnSpc>
                <a:spcPts val="4139"/>
              </a:lnSpc>
              <a:buFont typeface="Arial"/>
              <a:buChar char="•"/>
            </a:pPr>
            <a:r>
              <a:rPr lang="en-US" sz="2956">
                <a:solidFill>
                  <a:srgbClr val="FFFFFF"/>
                </a:solidFill>
                <a:latin typeface="Sarabun"/>
                <a:ea typeface="Sarabun"/>
                <a:cs typeface="Sarabun"/>
                <a:sym typeface="Sarabun"/>
              </a:rPr>
              <a:t>Productivity Improvement (%)       </a:t>
            </a:r>
          </a:p>
          <a:p>
            <a:pPr marL="638373" lvl="1" indent="-319187" algn="l">
              <a:lnSpc>
                <a:spcPts val="4139"/>
              </a:lnSpc>
              <a:buFont typeface="Arial"/>
              <a:buChar char="•"/>
            </a:pPr>
            <a:r>
              <a:rPr lang="en-US" sz="2956">
                <a:solidFill>
                  <a:srgbClr val="FFFFFF"/>
                </a:solidFill>
                <a:latin typeface="Sarabun"/>
                <a:ea typeface="Sarabun"/>
                <a:cs typeface="Sarabun"/>
                <a:sym typeface="Sarabun"/>
              </a:rPr>
              <a:t>Task Success Rate (%)                   </a:t>
            </a:r>
          </a:p>
          <a:p>
            <a:pPr marL="638373" lvl="1" indent="-319187" algn="l">
              <a:lnSpc>
                <a:spcPts val="4139"/>
              </a:lnSpc>
              <a:buFont typeface="Arial"/>
              <a:buChar char="•"/>
            </a:pPr>
            <a:r>
              <a:rPr lang="en-US" sz="2956">
                <a:solidFill>
                  <a:srgbClr val="FFFFFF"/>
                </a:solidFill>
                <a:latin typeface="Sarabun"/>
                <a:ea typeface="Sarabun"/>
                <a:cs typeface="Sarabun"/>
                <a:sym typeface="Sarabun"/>
              </a:rPr>
              <a:t>AI Maturity Level                              </a:t>
            </a:r>
          </a:p>
          <a:p>
            <a:pPr marL="638373" lvl="1" indent="-319187" algn="l">
              <a:lnSpc>
                <a:spcPts val="4139"/>
              </a:lnSpc>
              <a:buFont typeface="Arial"/>
              <a:buChar char="•"/>
            </a:pPr>
            <a:r>
              <a:rPr lang="en-US" sz="2956">
                <a:solidFill>
                  <a:srgbClr val="FFFFFF"/>
                </a:solidFill>
                <a:latin typeface="Sarabun"/>
                <a:ea typeface="Sarabun"/>
                <a:cs typeface="Sarabun"/>
                <a:sym typeface="Sarabun"/>
              </a:rPr>
              <a:t>Response Time                                 </a:t>
            </a:r>
          </a:p>
          <a:p>
            <a:pPr algn="l">
              <a:lnSpc>
                <a:spcPts val="4139"/>
              </a:lnSpc>
            </a:pPr>
            <a:endParaRPr lang="en-US" sz="2956">
              <a:solidFill>
                <a:srgbClr val="FFFFFF"/>
              </a:solidFill>
              <a:latin typeface="Sarabun"/>
              <a:ea typeface="Sarabun"/>
              <a:cs typeface="Sarabun"/>
              <a:sym typeface="Sarabun"/>
            </a:endParaRPr>
          </a:p>
          <a:p>
            <a:pPr algn="l">
              <a:lnSpc>
                <a:spcPts val="4139"/>
              </a:lnSpc>
            </a:pPr>
            <a:endParaRPr lang="en-US" sz="2956">
              <a:solidFill>
                <a:srgbClr val="FFFFFF"/>
              </a:solidFill>
              <a:latin typeface="Sarabun"/>
              <a:ea typeface="Sarabun"/>
              <a:cs typeface="Sarabun"/>
              <a:sym typeface="Sarabun"/>
            </a:endParaRPr>
          </a:p>
          <a:p>
            <a:pPr algn="l">
              <a:lnSpc>
                <a:spcPts val="4139"/>
              </a:lnSpc>
            </a:pPr>
            <a:endParaRPr lang="en-US" sz="2956">
              <a:solidFill>
                <a:srgbClr val="FFFFFF"/>
              </a:solidFill>
              <a:latin typeface="Sarabun"/>
              <a:ea typeface="Sarabun"/>
              <a:cs typeface="Sarabun"/>
              <a:sym typeface="Sarabun"/>
            </a:endParaRPr>
          </a:p>
          <a:p>
            <a:pPr algn="l">
              <a:lnSpc>
                <a:spcPts val="4139"/>
              </a:lnSpc>
            </a:pPr>
            <a:endParaRPr lang="en-US" sz="2956">
              <a:solidFill>
                <a:srgbClr val="FFFFFF"/>
              </a:solidFill>
              <a:latin typeface="Sarabun"/>
              <a:ea typeface="Sarabun"/>
              <a:cs typeface="Sarabun"/>
              <a:sym typeface="Sarabun"/>
            </a:endParaRPr>
          </a:p>
          <a:p>
            <a:pPr algn="l">
              <a:lnSpc>
                <a:spcPts val="4139"/>
              </a:lnSpc>
            </a:pPr>
            <a:endParaRPr lang="en-US" sz="2956">
              <a:solidFill>
                <a:srgbClr val="FFFFFF"/>
              </a:solidFill>
              <a:latin typeface="Sarabun"/>
              <a:ea typeface="Sarabun"/>
              <a:cs typeface="Sarabun"/>
              <a:sym typeface="Sarabu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rot="-1693811">
            <a:off x="8635485" y="-485258"/>
            <a:ext cx="11156868" cy="15883501"/>
            <a:chOff x="0" y="0"/>
            <a:chExt cx="2938434" cy="4183309"/>
          </a:xfrm>
        </p:grpSpPr>
        <p:sp>
          <p:nvSpPr>
            <p:cNvPr id="3" name="Freeform 3"/>
            <p:cNvSpPr/>
            <p:nvPr/>
          </p:nvSpPr>
          <p:spPr>
            <a:xfrm>
              <a:off x="0" y="0"/>
              <a:ext cx="2938434" cy="4183309"/>
            </a:xfrm>
            <a:custGeom>
              <a:avLst/>
              <a:gdLst/>
              <a:ahLst/>
              <a:cxnLst/>
              <a:rect l="l" t="t" r="r" b="b"/>
              <a:pathLst>
                <a:path w="2938434" h="4183309">
                  <a:moveTo>
                    <a:pt x="35390" y="0"/>
                  </a:moveTo>
                  <a:lnTo>
                    <a:pt x="2903045" y="0"/>
                  </a:lnTo>
                  <a:cubicBezTo>
                    <a:pt x="2912431" y="0"/>
                    <a:pt x="2921432" y="3729"/>
                    <a:pt x="2928069" y="10365"/>
                  </a:cubicBezTo>
                  <a:cubicBezTo>
                    <a:pt x="2934706" y="17002"/>
                    <a:pt x="2938434" y="26004"/>
                    <a:pt x="2938434" y="35390"/>
                  </a:cubicBezTo>
                  <a:lnTo>
                    <a:pt x="2938434" y="4147919"/>
                  </a:lnTo>
                  <a:cubicBezTo>
                    <a:pt x="2938434" y="4157305"/>
                    <a:pt x="2934706" y="4166307"/>
                    <a:pt x="2928069" y="4172944"/>
                  </a:cubicBezTo>
                  <a:cubicBezTo>
                    <a:pt x="2921432" y="4179581"/>
                    <a:pt x="2912431" y="4183309"/>
                    <a:pt x="2903045" y="4183309"/>
                  </a:cubicBezTo>
                  <a:lnTo>
                    <a:pt x="35390" y="4183309"/>
                  </a:lnTo>
                  <a:cubicBezTo>
                    <a:pt x="26004" y="4183309"/>
                    <a:pt x="17002" y="4179581"/>
                    <a:pt x="10365" y="4172944"/>
                  </a:cubicBezTo>
                  <a:cubicBezTo>
                    <a:pt x="3729" y="4166307"/>
                    <a:pt x="0" y="4157305"/>
                    <a:pt x="0" y="4147919"/>
                  </a:cubicBezTo>
                  <a:lnTo>
                    <a:pt x="0" y="35390"/>
                  </a:lnTo>
                  <a:cubicBezTo>
                    <a:pt x="0" y="26004"/>
                    <a:pt x="3729" y="17002"/>
                    <a:pt x="10365" y="10365"/>
                  </a:cubicBezTo>
                  <a:cubicBezTo>
                    <a:pt x="17002" y="3729"/>
                    <a:pt x="26004" y="0"/>
                    <a:pt x="35390" y="0"/>
                  </a:cubicBezTo>
                  <a:close/>
                </a:path>
              </a:pathLst>
            </a:custGeom>
            <a:solidFill>
              <a:srgbClr val="002566">
                <a:alpha val="17647"/>
              </a:srgbClr>
            </a:solidFill>
          </p:spPr>
        </p:sp>
        <p:sp>
          <p:nvSpPr>
            <p:cNvPr id="4" name="TextBox 4"/>
            <p:cNvSpPr txBox="1"/>
            <p:nvPr/>
          </p:nvSpPr>
          <p:spPr>
            <a:xfrm>
              <a:off x="0" y="-28575"/>
              <a:ext cx="2938434" cy="421188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693811">
            <a:off x="11851963" y="-14652129"/>
            <a:ext cx="6737061" cy="25768931"/>
            <a:chOff x="0" y="0"/>
            <a:chExt cx="1774370" cy="6786879"/>
          </a:xfrm>
        </p:grpSpPr>
        <p:sp>
          <p:nvSpPr>
            <p:cNvPr id="6" name="Freeform 6"/>
            <p:cNvSpPr/>
            <p:nvPr/>
          </p:nvSpPr>
          <p:spPr>
            <a:xfrm>
              <a:off x="0" y="0"/>
              <a:ext cx="1774370" cy="6786879"/>
            </a:xfrm>
            <a:custGeom>
              <a:avLst/>
              <a:gdLst/>
              <a:ahLst/>
              <a:cxnLst/>
              <a:rect l="l" t="t" r="r" b="b"/>
              <a:pathLst>
                <a:path w="1774370" h="6786879">
                  <a:moveTo>
                    <a:pt x="58607" y="0"/>
                  </a:moveTo>
                  <a:lnTo>
                    <a:pt x="1715763" y="0"/>
                  </a:lnTo>
                  <a:cubicBezTo>
                    <a:pt x="1748131" y="0"/>
                    <a:pt x="1774370" y="26239"/>
                    <a:pt x="1774370" y="58607"/>
                  </a:cubicBezTo>
                  <a:lnTo>
                    <a:pt x="1774370" y="6728272"/>
                  </a:lnTo>
                  <a:cubicBezTo>
                    <a:pt x="1774370" y="6743815"/>
                    <a:pt x="1768195" y="6758722"/>
                    <a:pt x="1757204" y="6769713"/>
                  </a:cubicBezTo>
                  <a:cubicBezTo>
                    <a:pt x="1746213" y="6780704"/>
                    <a:pt x="1731307" y="6786879"/>
                    <a:pt x="1715763" y="6786879"/>
                  </a:cubicBezTo>
                  <a:lnTo>
                    <a:pt x="58607" y="6786879"/>
                  </a:lnTo>
                  <a:cubicBezTo>
                    <a:pt x="43063" y="6786879"/>
                    <a:pt x="28156" y="6780704"/>
                    <a:pt x="17166" y="6769713"/>
                  </a:cubicBezTo>
                  <a:cubicBezTo>
                    <a:pt x="6175" y="6758722"/>
                    <a:pt x="0" y="6743815"/>
                    <a:pt x="0" y="6728272"/>
                  </a:cubicBezTo>
                  <a:lnTo>
                    <a:pt x="0" y="58607"/>
                  </a:lnTo>
                  <a:cubicBezTo>
                    <a:pt x="0" y="43063"/>
                    <a:pt x="6175" y="28156"/>
                    <a:pt x="17166" y="17166"/>
                  </a:cubicBezTo>
                  <a:cubicBezTo>
                    <a:pt x="28156" y="6175"/>
                    <a:pt x="43063" y="0"/>
                    <a:pt x="58607" y="0"/>
                  </a:cubicBezTo>
                  <a:close/>
                </a:path>
              </a:pathLst>
            </a:custGeom>
            <a:solidFill>
              <a:srgbClr val="002566"/>
            </a:solidFill>
          </p:spPr>
        </p:sp>
        <p:sp>
          <p:nvSpPr>
            <p:cNvPr id="7" name="TextBox 7"/>
            <p:cNvSpPr txBox="1"/>
            <p:nvPr/>
          </p:nvSpPr>
          <p:spPr>
            <a:xfrm>
              <a:off x="0" y="-28575"/>
              <a:ext cx="1774370" cy="6815454"/>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6497663" y="7890188"/>
            <a:ext cx="2611028" cy="4114800"/>
          </a:xfrm>
          <a:custGeom>
            <a:avLst/>
            <a:gdLst/>
            <a:ahLst/>
            <a:cxnLst/>
            <a:rect l="l" t="t" r="r" b="b"/>
            <a:pathLst>
              <a:path w="2611028" h="4114800">
                <a:moveTo>
                  <a:pt x="0" y="0"/>
                </a:moveTo>
                <a:lnTo>
                  <a:pt x="2611027" y="0"/>
                </a:lnTo>
                <a:lnTo>
                  <a:pt x="2611027"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172322" y="-490025"/>
            <a:ext cx="2401536" cy="1833900"/>
          </a:xfrm>
          <a:custGeom>
            <a:avLst/>
            <a:gdLst/>
            <a:ahLst/>
            <a:cxnLst/>
            <a:rect l="l" t="t" r="r" b="b"/>
            <a:pathLst>
              <a:path w="2401536" h="1833900">
                <a:moveTo>
                  <a:pt x="0" y="0"/>
                </a:moveTo>
                <a:lnTo>
                  <a:pt x="2401536" y="0"/>
                </a:lnTo>
                <a:lnTo>
                  <a:pt x="2401536" y="1833900"/>
                </a:lnTo>
                <a:lnTo>
                  <a:pt x="0" y="18339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3960920" y="1171575"/>
            <a:ext cx="6052436" cy="872997"/>
          </a:xfrm>
          <a:prstGeom prst="rect">
            <a:avLst/>
          </a:prstGeom>
        </p:spPr>
        <p:txBody>
          <a:bodyPr lIns="0" tIns="0" rIns="0" bIns="0" rtlCol="0" anchor="t">
            <a:spAutoFit/>
          </a:bodyPr>
          <a:lstStyle/>
          <a:p>
            <a:pPr algn="l">
              <a:lnSpc>
                <a:spcPts val="6565"/>
              </a:lnSpc>
            </a:pPr>
            <a:r>
              <a:rPr lang="en-US" sz="6699" b="1">
                <a:solidFill>
                  <a:srgbClr val="002566"/>
                </a:solidFill>
                <a:latin typeface="Sarabun Bold"/>
                <a:ea typeface="Sarabun Bold"/>
                <a:cs typeface="Sarabun Bold"/>
                <a:sym typeface="Sarabun Bold"/>
              </a:rPr>
              <a:t>CONCLUSION</a:t>
            </a:r>
          </a:p>
        </p:txBody>
      </p:sp>
      <p:sp>
        <p:nvSpPr>
          <p:cNvPr id="11" name="TextBox 11"/>
          <p:cNvSpPr txBox="1"/>
          <p:nvPr/>
        </p:nvSpPr>
        <p:spPr>
          <a:xfrm>
            <a:off x="764756" y="2849963"/>
            <a:ext cx="13819768" cy="8464299"/>
          </a:xfrm>
          <a:prstGeom prst="rect">
            <a:avLst/>
          </a:prstGeom>
        </p:spPr>
        <p:txBody>
          <a:bodyPr lIns="0" tIns="0" rIns="0" bIns="0" rtlCol="0" anchor="t">
            <a:spAutoFit/>
          </a:bodyPr>
          <a:lstStyle/>
          <a:p>
            <a:pPr algn="l">
              <a:lnSpc>
                <a:spcPts val="4668"/>
              </a:lnSpc>
            </a:pPr>
            <a:r>
              <a:rPr lang="en-US" sz="3334">
                <a:solidFill>
                  <a:srgbClr val="002566"/>
                </a:solidFill>
                <a:latin typeface="Sarabun"/>
                <a:ea typeface="Sarabun"/>
                <a:cs typeface="Sarabun"/>
                <a:sym typeface="Sarabun"/>
              </a:rPr>
              <a:t>In conclusion, this project shows that Agentic AI has a strong impact on how organizations perform and make decisions. The dashboard clearly shows that when organizations trust AI and use it successfully, their productivity and task success rates improve.</a:t>
            </a:r>
          </a:p>
          <a:p>
            <a:pPr algn="l">
              <a:lnSpc>
                <a:spcPts val="4668"/>
              </a:lnSpc>
            </a:pPr>
            <a:r>
              <a:rPr lang="en-US" sz="3334">
                <a:solidFill>
                  <a:srgbClr val="002566"/>
                </a:solidFill>
                <a:latin typeface="Sarabun"/>
                <a:ea typeface="Sarabun"/>
                <a:cs typeface="Sarabun"/>
                <a:sym typeface="Sarabun"/>
              </a:rPr>
              <a:t>It also shows that the impact of AI is different in each industry, depending on how well it is used. Organizations that use AI properly achieve better results.</a:t>
            </a:r>
          </a:p>
          <a:p>
            <a:pPr algn="l">
              <a:lnSpc>
                <a:spcPts val="4668"/>
              </a:lnSpc>
            </a:pPr>
            <a:r>
              <a:rPr lang="en-US" sz="3334">
                <a:solidFill>
                  <a:srgbClr val="002566"/>
                </a:solidFill>
                <a:latin typeface="Sarabun"/>
                <a:ea typeface="Sarabun"/>
                <a:cs typeface="Sarabun"/>
                <a:sym typeface="Sarabun"/>
              </a:rPr>
              <a:t>Overall, this project highlights that trusting and using AI in the right way can improve efficiency, leadership, and business growth. The dashboard helps in understanding these insights and supports better decision-making.</a:t>
            </a:r>
          </a:p>
          <a:p>
            <a:pPr algn="l">
              <a:lnSpc>
                <a:spcPts val="4108"/>
              </a:lnSpc>
            </a:pPr>
            <a:endParaRPr lang="en-US" sz="3334">
              <a:solidFill>
                <a:srgbClr val="002566"/>
              </a:solidFill>
              <a:latin typeface="Sarabun"/>
              <a:ea typeface="Sarabun"/>
              <a:cs typeface="Sarabun"/>
              <a:sym typeface="Sarabun"/>
            </a:endParaRPr>
          </a:p>
          <a:p>
            <a:pPr algn="l">
              <a:lnSpc>
                <a:spcPts val="4108"/>
              </a:lnSpc>
            </a:pPr>
            <a:endParaRPr lang="en-US" sz="3334">
              <a:solidFill>
                <a:srgbClr val="002566"/>
              </a:solidFill>
              <a:latin typeface="Sarabun"/>
              <a:ea typeface="Sarabun"/>
              <a:cs typeface="Sarabun"/>
              <a:sym typeface="Sarabun"/>
            </a:endParaRPr>
          </a:p>
          <a:p>
            <a:pPr algn="l">
              <a:lnSpc>
                <a:spcPts val="4108"/>
              </a:lnSpc>
            </a:pPr>
            <a:endParaRPr lang="en-US" sz="3334">
              <a:solidFill>
                <a:srgbClr val="002566"/>
              </a:solidFill>
              <a:latin typeface="Sarabun"/>
              <a:ea typeface="Sarabun"/>
              <a:cs typeface="Sarabun"/>
              <a:sym typeface="Sarabun"/>
            </a:endParaRPr>
          </a:p>
          <a:p>
            <a:pPr algn="l">
              <a:lnSpc>
                <a:spcPts val="4108"/>
              </a:lnSpc>
            </a:pPr>
            <a:endParaRPr lang="en-US" sz="3334">
              <a:solidFill>
                <a:srgbClr val="002566"/>
              </a:solidFill>
              <a:latin typeface="Sarabun"/>
              <a:ea typeface="Sarabun"/>
              <a:cs typeface="Sarabun"/>
              <a:sym typeface="Sarabun"/>
            </a:endParaRPr>
          </a:p>
          <a:p>
            <a:pPr algn="l">
              <a:lnSpc>
                <a:spcPts val="4108"/>
              </a:lnSpc>
            </a:pPr>
            <a:endParaRPr lang="en-US" sz="3334">
              <a:solidFill>
                <a:srgbClr val="002566"/>
              </a:solidFill>
              <a:latin typeface="Sarabun"/>
              <a:ea typeface="Sarabun"/>
              <a:cs typeface="Sarabun"/>
              <a:sym typeface="Sarabu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a:off x="1381611" y="243889"/>
            <a:ext cx="15394924" cy="2135047"/>
            <a:chOff x="0" y="0"/>
            <a:chExt cx="4054630" cy="562317"/>
          </a:xfrm>
        </p:grpSpPr>
        <p:sp>
          <p:nvSpPr>
            <p:cNvPr id="3" name="Freeform 3"/>
            <p:cNvSpPr/>
            <p:nvPr/>
          </p:nvSpPr>
          <p:spPr>
            <a:xfrm>
              <a:off x="0" y="0"/>
              <a:ext cx="4054630" cy="562317"/>
            </a:xfrm>
            <a:custGeom>
              <a:avLst/>
              <a:gdLst/>
              <a:ahLst/>
              <a:cxnLst/>
              <a:rect l="l" t="t" r="r" b="b"/>
              <a:pathLst>
                <a:path w="4054630" h="562317">
                  <a:moveTo>
                    <a:pt x="25647" y="0"/>
                  </a:moveTo>
                  <a:lnTo>
                    <a:pt x="4028983" y="0"/>
                  </a:lnTo>
                  <a:cubicBezTo>
                    <a:pt x="4043147" y="0"/>
                    <a:pt x="4054630" y="11483"/>
                    <a:pt x="4054630" y="25647"/>
                  </a:cubicBezTo>
                  <a:lnTo>
                    <a:pt x="4054630" y="536670"/>
                  </a:lnTo>
                  <a:cubicBezTo>
                    <a:pt x="4054630" y="550834"/>
                    <a:pt x="4043147" y="562317"/>
                    <a:pt x="4028983" y="562317"/>
                  </a:cubicBezTo>
                  <a:lnTo>
                    <a:pt x="25647" y="562317"/>
                  </a:lnTo>
                  <a:cubicBezTo>
                    <a:pt x="11483" y="562317"/>
                    <a:pt x="0" y="550834"/>
                    <a:pt x="0" y="536670"/>
                  </a:cubicBezTo>
                  <a:lnTo>
                    <a:pt x="0" y="25647"/>
                  </a:lnTo>
                  <a:cubicBezTo>
                    <a:pt x="0" y="11483"/>
                    <a:pt x="11483" y="0"/>
                    <a:pt x="25647" y="0"/>
                  </a:cubicBezTo>
                  <a:close/>
                </a:path>
              </a:pathLst>
            </a:custGeom>
            <a:solidFill>
              <a:srgbClr val="002566"/>
            </a:solidFill>
          </p:spPr>
        </p:sp>
        <p:sp>
          <p:nvSpPr>
            <p:cNvPr id="4" name="TextBox 4"/>
            <p:cNvSpPr txBox="1"/>
            <p:nvPr/>
          </p:nvSpPr>
          <p:spPr>
            <a:xfrm>
              <a:off x="0" y="-28575"/>
              <a:ext cx="4054630" cy="590892"/>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6635483" y="956891"/>
            <a:ext cx="6788647" cy="920498"/>
          </a:xfrm>
          <a:prstGeom prst="rect">
            <a:avLst/>
          </a:prstGeom>
        </p:spPr>
        <p:txBody>
          <a:bodyPr lIns="0" tIns="0" rIns="0" bIns="0" rtlCol="0" anchor="t">
            <a:spAutoFit/>
          </a:bodyPr>
          <a:lstStyle/>
          <a:p>
            <a:pPr algn="l">
              <a:lnSpc>
                <a:spcPts val="7128"/>
              </a:lnSpc>
            </a:pPr>
            <a:r>
              <a:rPr lang="en-US" sz="6480" b="1">
                <a:solidFill>
                  <a:srgbClr val="FFFBE8"/>
                </a:solidFill>
                <a:latin typeface="Sarabun Bold"/>
                <a:ea typeface="Sarabun Bold"/>
                <a:cs typeface="Sarabun Bold"/>
                <a:sym typeface="Sarabun Bold"/>
              </a:rPr>
              <a:t>SUGGESTIONS</a:t>
            </a:r>
          </a:p>
        </p:txBody>
      </p:sp>
      <p:sp>
        <p:nvSpPr>
          <p:cNvPr id="6" name="TextBox 6"/>
          <p:cNvSpPr txBox="1"/>
          <p:nvPr/>
        </p:nvSpPr>
        <p:spPr>
          <a:xfrm>
            <a:off x="1586567" y="3059838"/>
            <a:ext cx="15533668" cy="5455514"/>
          </a:xfrm>
          <a:prstGeom prst="rect">
            <a:avLst/>
          </a:prstGeom>
        </p:spPr>
        <p:txBody>
          <a:bodyPr lIns="0" tIns="0" rIns="0" bIns="0" rtlCol="0" anchor="t">
            <a:spAutoFit/>
          </a:bodyPr>
          <a:lstStyle/>
          <a:p>
            <a:pPr marL="770342" lvl="1" indent="-385171" algn="l">
              <a:lnSpc>
                <a:spcPts val="3924"/>
              </a:lnSpc>
              <a:buFont typeface="Arial"/>
              <a:buChar char="•"/>
            </a:pPr>
            <a:r>
              <a:rPr lang="en-US" sz="3568">
                <a:solidFill>
                  <a:srgbClr val="002566"/>
                </a:solidFill>
                <a:latin typeface="Sarabun"/>
                <a:ea typeface="Sarabun"/>
                <a:cs typeface="Sarabun"/>
                <a:sym typeface="Sarabun"/>
              </a:rPr>
              <a:t>Implement feedback systems to improve AI performance over time</a:t>
            </a:r>
          </a:p>
          <a:p>
            <a:pPr algn="l">
              <a:lnSpc>
                <a:spcPts val="3924"/>
              </a:lnSpc>
            </a:pPr>
            <a:endParaRPr lang="en-US" sz="3568">
              <a:solidFill>
                <a:srgbClr val="002566"/>
              </a:solidFill>
              <a:latin typeface="Sarabun"/>
              <a:ea typeface="Sarabun"/>
              <a:cs typeface="Sarabun"/>
              <a:sym typeface="Sarabun"/>
            </a:endParaRPr>
          </a:p>
          <a:p>
            <a:pPr marL="770342" lvl="1" indent="-385171" algn="l">
              <a:lnSpc>
                <a:spcPts val="3924"/>
              </a:lnSpc>
              <a:buFont typeface="Arial"/>
              <a:buChar char="•"/>
            </a:pPr>
            <a:r>
              <a:rPr lang="en-US" sz="3568">
                <a:solidFill>
                  <a:srgbClr val="002566"/>
                </a:solidFill>
                <a:latin typeface="Sarabun"/>
                <a:ea typeface="Sarabun"/>
                <a:cs typeface="Sarabun"/>
                <a:sym typeface="Sarabun"/>
              </a:rPr>
              <a:t>Use real-time data monitoring for faster decision-making</a:t>
            </a:r>
          </a:p>
          <a:p>
            <a:pPr algn="l">
              <a:lnSpc>
                <a:spcPts val="3924"/>
              </a:lnSpc>
            </a:pPr>
            <a:endParaRPr lang="en-US" sz="3568">
              <a:solidFill>
                <a:srgbClr val="002566"/>
              </a:solidFill>
              <a:latin typeface="Sarabun"/>
              <a:ea typeface="Sarabun"/>
              <a:cs typeface="Sarabun"/>
              <a:sym typeface="Sarabun"/>
            </a:endParaRPr>
          </a:p>
          <a:p>
            <a:pPr marL="770342" lvl="1" indent="-385171" algn="l">
              <a:lnSpc>
                <a:spcPts val="3924"/>
              </a:lnSpc>
              <a:buFont typeface="Arial"/>
              <a:buChar char="•"/>
            </a:pPr>
            <a:r>
              <a:rPr lang="en-US" sz="3568">
                <a:solidFill>
                  <a:srgbClr val="002566"/>
                </a:solidFill>
                <a:latin typeface="Sarabun"/>
                <a:ea typeface="Sarabun"/>
                <a:cs typeface="Sarabun"/>
                <a:sym typeface="Sarabun"/>
              </a:rPr>
              <a:t>Ensure data privacy and cybersecurity measures are in place</a:t>
            </a:r>
          </a:p>
          <a:p>
            <a:pPr algn="l">
              <a:lnSpc>
                <a:spcPts val="3924"/>
              </a:lnSpc>
            </a:pPr>
            <a:endParaRPr lang="en-US" sz="3568">
              <a:solidFill>
                <a:srgbClr val="002566"/>
              </a:solidFill>
              <a:latin typeface="Sarabun"/>
              <a:ea typeface="Sarabun"/>
              <a:cs typeface="Sarabun"/>
              <a:sym typeface="Sarabun"/>
            </a:endParaRPr>
          </a:p>
          <a:p>
            <a:pPr marL="770342" lvl="1" indent="-385171" algn="l">
              <a:lnSpc>
                <a:spcPts val="3924"/>
              </a:lnSpc>
              <a:buFont typeface="Arial"/>
              <a:buChar char="•"/>
            </a:pPr>
            <a:r>
              <a:rPr lang="en-US" sz="3568">
                <a:solidFill>
                  <a:srgbClr val="002566"/>
                </a:solidFill>
                <a:latin typeface="Sarabun"/>
                <a:ea typeface="Sarabun"/>
                <a:cs typeface="Sarabun"/>
                <a:sym typeface="Sarabun"/>
              </a:rPr>
              <a:t>Promote cross-functional collaboration (IT + business teams)</a:t>
            </a:r>
          </a:p>
          <a:p>
            <a:pPr algn="l">
              <a:lnSpc>
                <a:spcPts val="3924"/>
              </a:lnSpc>
            </a:pPr>
            <a:endParaRPr lang="en-US" sz="3568">
              <a:solidFill>
                <a:srgbClr val="002566"/>
              </a:solidFill>
              <a:latin typeface="Sarabun"/>
              <a:ea typeface="Sarabun"/>
              <a:cs typeface="Sarabun"/>
              <a:sym typeface="Sarabun"/>
            </a:endParaRPr>
          </a:p>
          <a:p>
            <a:pPr marL="770342" lvl="1" indent="-385171" algn="l">
              <a:lnSpc>
                <a:spcPts val="3924"/>
              </a:lnSpc>
              <a:buFont typeface="Arial"/>
              <a:buChar char="•"/>
            </a:pPr>
            <a:r>
              <a:rPr lang="en-US" sz="3568">
                <a:solidFill>
                  <a:srgbClr val="002566"/>
                </a:solidFill>
                <a:latin typeface="Sarabun"/>
                <a:ea typeface="Sarabun"/>
                <a:cs typeface="Sarabun"/>
                <a:sym typeface="Sarabun"/>
              </a:rPr>
              <a:t>Conduct regular AI audits to check effectiveness and fairness</a:t>
            </a:r>
          </a:p>
          <a:p>
            <a:pPr algn="l">
              <a:lnSpc>
                <a:spcPts val="3924"/>
              </a:lnSpc>
            </a:pPr>
            <a:endParaRPr lang="en-US" sz="3568">
              <a:solidFill>
                <a:srgbClr val="002566"/>
              </a:solidFill>
              <a:latin typeface="Sarabun"/>
              <a:ea typeface="Sarabun"/>
              <a:cs typeface="Sarabun"/>
              <a:sym typeface="Sarabun"/>
            </a:endParaRPr>
          </a:p>
          <a:p>
            <a:pPr marL="770342" lvl="1" indent="-385171" algn="l">
              <a:lnSpc>
                <a:spcPts val="3924"/>
              </a:lnSpc>
              <a:buFont typeface="Arial"/>
              <a:buChar char="•"/>
            </a:pPr>
            <a:r>
              <a:rPr lang="en-US" sz="3568">
                <a:solidFill>
                  <a:srgbClr val="002566"/>
                </a:solidFill>
                <a:latin typeface="Sarabun"/>
                <a:ea typeface="Sarabun"/>
                <a:cs typeface="Sarabun"/>
                <a:sym typeface="Sarabun"/>
              </a:rPr>
              <a:t>Use predictive analytics to improve future decision-making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rot="-1693811">
            <a:off x="5022536" y="-1797506"/>
            <a:ext cx="13306602" cy="15883501"/>
            <a:chOff x="0" y="0"/>
            <a:chExt cx="3504619" cy="4183309"/>
          </a:xfrm>
        </p:grpSpPr>
        <p:sp>
          <p:nvSpPr>
            <p:cNvPr id="3" name="Freeform 3"/>
            <p:cNvSpPr/>
            <p:nvPr/>
          </p:nvSpPr>
          <p:spPr>
            <a:xfrm>
              <a:off x="0" y="0"/>
              <a:ext cx="3504619" cy="4183309"/>
            </a:xfrm>
            <a:custGeom>
              <a:avLst/>
              <a:gdLst/>
              <a:ahLst/>
              <a:cxnLst/>
              <a:rect l="l" t="t" r="r" b="b"/>
              <a:pathLst>
                <a:path w="3504619" h="4183309">
                  <a:moveTo>
                    <a:pt x="29672" y="0"/>
                  </a:moveTo>
                  <a:lnTo>
                    <a:pt x="3474947" y="0"/>
                  </a:lnTo>
                  <a:cubicBezTo>
                    <a:pt x="3482817" y="0"/>
                    <a:pt x="3490364" y="3126"/>
                    <a:pt x="3495928" y="8691"/>
                  </a:cubicBezTo>
                  <a:cubicBezTo>
                    <a:pt x="3501493" y="14255"/>
                    <a:pt x="3504619" y="21803"/>
                    <a:pt x="3504619" y="29672"/>
                  </a:cubicBezTo>
                  <a:lnTo>
                    <a:pt x="3504619" y="4153637"/>
                  </a:lnTo>
                  <a:cubicBezTo>
                    <a:pt x="3504619" y="4170024"/>
                    <a:pt x="3491335" y="4183309"/>
                    <a:pt x="3474947" y="4183309"/>
                  </a:cubicBezTo>
                  <a:lnTo>
                    <a:pt x="29672" y="4183309"/>
                  </a:lnTo>
                  <a:cubicBezTo>
                    <a:pt x="21803" y="4183309"/>
                    <a:pt x="14255" y="4180183"/>
                    <a:pt x="8691" y="4174618"/>
                  </a:cubicBezTo>
                  <a:cubicBezTo>
                    <a:pt x="3126" y="4169054"/>
                    <a:pt x="0" y="4161506"/>
                    <a:pt x="0" y="4153637"/>
                  </a:cubicBezTo>
                  <a:lnTo>
                    <a:pt x="0" y="29672"/>
                  </a:lnTo>
                  <a:cubicBezTo>
                    <a:pt x="0" y="21803"/>
                    <a:pt x="3126" y="14255"/>
                    <a:pt x="8691" y="8691"/>
                  </a:cubicBezTo>
                  <a:cubicBezTo>
                    <a:pt x="14255" y="3126"/>
                    <a:pt x="21803" y="0"/>
                    <a:pt x="29672" y="0"/>
                  </a:cubicBezTo>
                  <a:close/>
                </a:path>
              </a:pathLst>
            </a:custGeom>
            <a:solidFill>
              <a:srgbClr val="002566">
                <a:alpha val="15686"/>
              </a:srgbClr>
            </a:solidFill>
          </p:spPr>
        </p:sp>
        <p:sp>
          <p:nvSpPr>
            <p:cNvPr id="4" name="TextBox 4"/>
            <p:cNvSpPr txBox="1"/>
            <p:nvPr/>
          </p:nvSpPr>
          <p:spPr>
            <a:xfrm>
              <a:off x="0" y="-28575"/>
              <a:ext cx="3504619" cy="421188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693811">
            <a:off x="3447135" y="-3012293"/>
            <a:ext cx="13306602" cy="15883501"/>
            <a:chOff x="0" y="0"/>
            <a:chExt cx="3504619" cy="4183309"/>
          </a:xfrm>
        </p:grpSpPr>
        <p:sp>
          <p:nvSpPr>
            <p:cNvPr id="6" name="Freeform 6"/>
            <p:cNvSpPr/>
            <p:nvPr/>
          </p:nvSpPr>
          <p:spPr>
            <a:xfrm>
              <a:off x="0" y="0"/>
              <a:ext cx="3504619" cy="4183309"/>
            </a:xfrm>
            <a:custGeom>
              <a:avLst/>
              <a:gdLst/>
              <a:ahLst/>
              <a:cxnLst/>
              <a:rect l="l" t="t" r="r" b="b"/>
              <a:pathLst>
                <a:path w="3504619" h="4183309">
                  <a:moveTo>
                    <a:pt x="29672" y="0"/>
                  </a:moveTo>
                  <a:lnTo>
                    <a:pt x="3474947" y="0"/>
                  </a:lnTo>
                  <a:cubicBezTo>
                    <a:pt x="3482817" y="0"/>
                    <a:pt x="3490364" y="3126"/>
                    <a:pt x="3495928" y="8691"/>
                  </a:cubicBezTo>
                  <a:cubicBezTo>
                    <a:pt x="3501493" y="14255"/>
                    <a:pt x="3504619" y="21803"/>
                    <a:pt x="3504619" y="29672"/>
                  </a:cubicBezTo>
                  <a:lnTo>
                    <a:pt x="3504619" y="4153637"/>
                  </a:lnTo>
                  <a:cubicBezTo>
                    <a:pt x="3504619" y="4170024"/>
                    <a:pt x="3491335" y="4183309"/>
                    <a:pt x="3474947" y="4183309"/>
                  </a:cubicBezTo>
                  <a:lnTo>
                    <a:pt x="29672" y="4183309"/>
                  </a:lnTo>
                  <a:cubicBezTo>
                    <a:pt x="21803" y="4183309"/>
                    <a:pt x="14255" y="4180183"/>
                    <a:pt x="8691" y="4174618"/>
                  </a:cubicBezTo>
                  <a:cubicBezTo>
                    <a:pt x="3126" y="4169054"/>
                    <a:pt x="0" y="4161506"/>
                    <a:pt x="0" y="4153637"/>
                  </a:cubicBezTo>
                  <a:lnTo>
                    <a:pt x="0" y="29672"/>
                  </a:lnTo>
                  <a:cubicBezTo>
                    <a:pt x="0" y="21803"/>
                    <a:pt x="3126" y="14255"/>
                    <a:pt x="8691" y="8691"/>
                  </a:cubicBezTo>
                  <a:cubicBezTo>
                    <a:pt x="14255" y="3126"/>
                    <a:pt x="21803" y="0"/>
                    <a:pt x="29672" y="0"/>
                  </a:cubicBezTo>
                  <a:close/>
                </a:path>
              </a:pathLst>
            </a:custGeom>
            <a:solidFill>
              <a:srgbClr val="002566"/>
            </a:solidFill>
          </p:spPr>
        </p:sp>
        <p:sp>
          <p:nvSpPr>
            <p:cNvPr id="7" name="TextBox 7"/>
            <p:cNvSpPr txBox="1"/>
            <p:nvPr/>
          </p:nvSpPr>
          <p:spPr>
            <a:xfrm>
              <a:off x="0" y="-28575"/>
              <a:ext cx="3504619" cy="4211884"/>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5597715" y="678419"/>
            <a:ext cx="9666871" cy="1109771"/>
          </a:xfrm>
          <a:prstGeom prst="rect">
            <a:avLst/>
          </a:prstGeom>
        </p:spPr>
        <p:txBody>
          <a:bodyPr lIns="0" tIns="0" rIns="0" bIns="0" rtlCol="0" anchor="t">
            <a:spAutoFit/>
          </a:bodyPr>
          <a:lstStyle/>
          <a:p>
            <a:pPr algn="l">
              <a:lnSpc>
                <a:spcPts val="8695"/>
              </a:lnSpc>
            </a:pPr>
            <a:r>
              <a:rPr lang="en-US" sz="7904" b="1">
                <a:solidFill>
                  <a:srgbClr val="FFFFFF"/>
                </a:solidFill>
                <a:latin typeface="Sarabun Bold"/>
                <a:ea typeface="Sarabun Bold"/>
                <a:cs typeface="Sarabun Bold"/>
                <a:sym typeface="Sarabun Bold"/>
              </a:rPr>
              <a:t>REFERENCE</a:t>
            </a:r>
          </a:p>
        </p:txBody>
      </p:sp>
      <p:sp>
        <p:nvSpPr>
          <p:cNvPr id="9" name="TextBox 9"/>
          <p:cNvSpPr txBox="1"/>
          <p:nvPr/>
        </p:nvSpPr>
        <p:spPr>
          <a:xfrm>
            <a:off x="4134093" y="2921691"/>
            <a:ext cx="10019814" cy="2124074"/>
          </a:xfrm>
          <a:prstGeom prst="rect">
            <a:avLst/>
          </a:prstGeom>
        </p:spPr>
        <p:txBody>
          <a:bodyPr lIns="0" tIns="0" rIns="0" bIns="0" rtlCol="0" anchor="t">
            <a:spAutoFit/>
          </a:bodyPr>
          <a:lstStyle/>
          <a:p>
            <a:pPr algn="l">
              <a:lnSpc>
                <a:spcPts val="3351"/>
              </a:lnSpc>
            </a:pPr>
            <a:r>
              <a:rPr lang="en-US" sz="3046">
                <a:solidFill>
                  <a:srgbClr val="FFFFFF"/>
                </a:solidFill>
                <a:latin typeface="Sarabun"/>
                <a:ea typeface="Sarabun"/>
                <a:cs typeface="Sarabun"/>
                <a:sym typeface="Sarabun"/>
              </a:rPr>
              <a:t>•  Kaggle : Agentic_AI_leadership Dataset</a:t>
            </a:r>
          </a:p>
          <a:p>
            <a:pPr algn="l">
              <a:lnSpc>
                <a:spcPts val="3351"/>
              </a:lnSpc>
            </a:pPr>
            <a:endParaRPr lang="en-US" sz="3046">
              <a:solidFill>
                <a:srgbClr val="FFFFFF"/>
              </a:solidFill>
              <a:latin typeface="Sarabun"/>
              <a:ea typeface="Sarabun"/>
              <a:cs typeface="Sarabun"/>
              <a:sym typeface="Sarabun"/>
            </a:endParaRPr>
          </a:p>
          <a:p>
            <a:pPr algn="l">
              <a:lnSpc>
                <a:spcPts val="3351"/>
              </a:lnSpc>
            </a:pPr>
            <a:r>
              <a:rPr lang="en-US" sz="3046">
                <a:solidFill>
                  <a:srgbClr val="FFFFFF"/>
                </a:solidFill>
                <a:latin typeface="Sarabun"/>
                <a:ea typeface="Sarabun"/>
                <a:cs typeface="Sarabun"/>
                <a:sym typeface="Sarabun"/>
              </a:rPr>
              <a:t>       https://www.kaggle.com</a:t>
            </a:r>
          </a:p>
          <a:p>
            <a:pPr algn="l">
              <a:lnSpc>
                <a:spcPts val="3351"/>
              </a:lnSpc>
            </a:pPr>
            <a:endParaRPr lang="en-US" sz="3046">
              <a:solidFill>
                <a:srgbClr val="FFFFFF"/>
              </a:solidFill>
              <a:latin typeface="Sarabun"/>
              <a:ea typeface="Sarabun"/>
              <a:cs typeface="Sarabun"/>
              <a:sym typeface="Sarabun"/>
            </a:endParaRPr>
          </a:p>
          <a:p>
            <a:pPr algn="l">
              <a:lnSpc>
                <a:spcPts val="3351"/>
              </a:lnSpc>
            </a:pPr>
            <a:endParaRPr lang="en-US" sz="3046">
              <a:solidFill>
                <a:srgbClr val="FFFFFF"/>
              </a:solidFill>
              <a:latin typeface="Sarabun"/>
              <a:ea typeface="Sarabun"/>
              <a:cs typeface="Sarabun"/>
              <a:sym typeface="Sarabu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BE8"/>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3950793" y="-2108440"/>
            <a:ext cx="8275470" cy="9757183"/>
            <a:chOff x="0" y="0"/>
            <a:chExt cx="2179548" cy="2569793"/>
          </a:xfrm>
        </p:grpSpPr>
        <p:sp>
          <p:nvSpPr>
            <p:cNvPr id="3" name="Freeform 3"/>
            <p:cNvSpPr/>
            <p:nvPr/>
          </p:nvSpPr>
          <p:spPr>
            <a:xfrm>
              <a:off x="0" y="0"/>
              <a:ext cx="2179548" cy="2569793"/>
            </a:xfrm>
            <a:custGeom>
              <a:avLst/>
              <a:gdLst/>
              <a:ahLst/>
              <a:cxnLst/>
              <a:rect l="l" t="t" r="r" b="b"/>
              <a:pathLst>
                <a:path w="2179548" h="2569793">
                  <a:moveTo>
                    <a:pt x="47712" y="0"/>
                  </a:moveTo>
                  <a:lnTo>
                    <a:pt x="2131836" y="0"/>
                  </a:lnTo>
                  <a:cubicBezTo>
                    <a:pt x="2144490" y="0"/>
                    <a:pt x="2156625" y="5027"/>
                    <a:pt x="2165573" y="13974"/>
                  </a:cubicBezTo>
                  <a:cubicBezTo>
                    <a:pt x="2174521" y="22922"/>
                    <a:pt x="2179548" y="35058"/>
                    <a:pt x="2179548" y="47712"/>
                  </a:cubicBezTo>
                  <a:lnTo>
                    <a:pt x="2179548" y="2522081"/>
                  </a:lnTo>
                  <a:cubicBezTo>
                    <a:pt x="2179548" y="2534735"/>
                    <a:pt x="2174521" y="2546871"/>
                    <a:pt x="2165573" y="2555819"/>
                  </a:cubicBezTo>
                  <a:cubicBezTo>
                    <a:pt x="2156625" y="2564766"/>
                    <a:pt x="2144490" y="2569793"/>
                    <a:pt x="2131836" y="2569793"/>
                  </a:cubicBezTo>
                  <a:lnTo>
                    <a:pt x="47712" y="2569793"/>
                  </a:lnTo>
                  <a:cubicBezTo>
                    <a:pt x="35058" y="2569793"/>
                    <a:pt x="22922" y="2564766"/>
                    <a:pt x="13974" y="2555819"/>
                  </a:cubicBezTo>
                  <a:cubicBezTo>
                    <a:pt x="5027" y="2546871"/>
                    <a:pt x="0" y="2534735"/>
                    <a:pt x="0" y="2522081"/>
                  </a:cubicBezTo>
                  <a:lnTo>
                    <a:pt x="0" y="47712"/>
                  </a:lnTo>
                  <a:cubicBezTo>
                    <a:pt x="0" y="35058"/>
                    <a:pt x="5027" y="22922"/>
                    <a:pt x="13974" y="13974"/>
                  </a:cubicBezTo>
                  <a:cubicBezTo>
                    <a:pt x="22922" y="5027"/>
                    <a:pt x="35058" y="0"/>
                    <a:pt x="47712" y="0"/>
                  </a:cubicBezTo>
                  <a:close/>
                </a:path>
              </a:pathLst>
            </a:custGeom>
            <a:solidFill>
              <a:srgbClr val="002566">
                <a:alpha val="25882"/>
              </a:srgbClr>
            </a:solidFill>
          </p:spPr>
        </p:sp>
        <p:sp>
          <p:nvSpPr>
            <p:cNvPr id="4" name="TextBox 4"/>
            <p:cNvSpPr txBox="1"/>
            <p:nvPr/>
          </p:nvSpPr>
          <p:spPr>
            <a:xfrm>
              <a:off x="0" y="-28575"/>
              <a:ext cx="2179548" cy="259836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2700000">
            <a:off x="6083269" y="-2937058"/>
            <a:ext cx="10629179" cy="13177170"/>
            <a:chOff x="0" y="0"/>
            <a:chExt cx="2799455" cy="3470530"/>
          </a:xfrm>
        </p:grpSpPr>
        <p:sp>
          <p:nvSpPr>
            <p:cNvPr id="6" name="Freeform 6"/>
            <p:cNvSpPr/>
            <p:nvPr/>
          </p:nvSpPr>
          <p:spPr>
            <a:xfrm>
              <a:off x="0" y="0"/>
              <a:ext cx="2799455" cy="3470530"/>
            </a:xfrm>
            <a:custGeom>
              <a:avLst/>
              <a:gdLst/>
              <a:ahLst/>
              <a:cxnLst/>
              <a:rect l="l" t="t" r="r" b="b"/>
              <a:pathLst>
                <a:path w="2799455" h="3470530">
                  <a:moveTo>
                    <a:pt x="37147" y="0"/>
                  </a:moveTo>
                  <a:lnTo>
                    <a:pt x="2762308" y="0"/>
                  </a:lnTo>
                  <a:cubicBezTo>
                    <a:pt x="2782824" y="0"/>
                    <a:pt x="2799455" y="16631"/>
                    <a:pt x="2799455" y="37147"/>
                  </a:cubicBezTo>
                  <a:lnTo>
                    <a:pt x="2799455" y="3433384"/>
                  </a:lnTo>
                  <a:cubicBezTo>
                    <a:pt x="2799455" y="3443236"/>
                    <a:pt x="2795541" y="3452684"/>
                    <a:pt x="2788575" y="3459650"/>
                  </a:cubicBezTo>
                  <a:cubicBezTo>
                    <a:pt x="2781608" y="3466617"/>
                    <a:pt x="2772160" y="3470530"/>
                    <a:pt x="2762308" y="3470530"/>
                  </a:cubicBezTo>
                  <a:lnTo>
                    <a:pt x="37147" y="3470530"/>
                  </a:lnTo>
                  <a:cubicBezTo>
                    <a:pt x="27295" y="3470530"/>
                    <a:pt x="17846" y="3466617"/>
                    <a:pt x="10880" y="3459650"/>
                  </a:cubicBezTo>
                  <a:cubicBezTo>
                    <a:pt x="3914" y="3452684"/>
                    <a:pt x="0" y="3443236"/>
                    <a:pt x="0" y="3433384"/>
                  </a:cubicBezTo>
                  <a:lnTo>
                    <a:pt x="0" y="37147"/>
                  </a:lnTo>
                  <a:cubicBezTo>
                    <a:pt x="0" y="27295"/>
                    <a:pt x="3914" y="17846"/>
                    <a:pt x="10880" y="10880"/>
                  </a:cubicBezTo>
                  <a:cubicBezTo>
                    <a:pt x="17846" y="3914"/>
                    <a:pt x="27295" y="0"/>
                    <a:pt x="37147" y="0"/>
                  </a:cubicBezTo>
                  <a:close/>
                </a:path>
              </a:pathLst>
            </a:custGeom>
            <a:solidFill>
              <a:srgbClr val="002566"/>
            </a:solidFill>
          </p:spPr>
        </p:sp>
        <p:sp>
          <p:nvSpPr>
            <p:cNvPr id="7" name="TextBox 7"/>
            <p:cNvSpPr txBox="1"/>
            <p:nvPr/>
          </p:nvSpPr>
          <p:spPr>
            <a:xfrm>
              <a:off x="0" y="-28575"/>
              <a:ext cx="2799455" cy="3499105"/>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2700000">
            <a:off x="-6742410" y="1726526"/>
            <a:ext cx="10629179" cy="11637912"/>
            <a:chOff x="0" y="0"/>
            <a:chExt cx="2799455" cy="3065129"/>
          </a:xfrm>
        </p:grpSpPr>
        <p:sp>
          <p:nvSpPr>
            <p:cNvPr id="9" name="Freeform 9"/>
            <p:cNvSpPr/>
            <p:nvPr/>
          </p:nvSpPr>
          <p:spPr>
            <a:xfrm>
              <a:off x="0" y="0"/>
              <a:ext cx="2799455" cy="3065129"/>
            </a:xfrm>
            <a:custGeom>
              <a:avLst/>
              <a:gdLst/>
              <a:ahLst/>
              <a:cxnLst/>
              <a:rect l="l" t="t" r="r" b="b"/>
              <a:pathLst>
                <a:path w="2799455" h="3065129">
                  <a:moveTo>
                    <a:pt x="37147" y="0"/>
                  </a:moveTo>
                  <a:lnTo>
                    <a:pt x="2762308" y="0"/>
                  </a:lnTo>
                  <a:cubicBezTo>
                    <a:pt x="2782824" y="0"/>
                    <a:pt x="2799455" y="16631"/>
                    <a:pt x="2799455" y="37147"/>
                  </a:cubicBezTo>
                  <a:lnTo>
                    <a:pt x="2799455" y="3027983"/>
                  </a:lnTo>
                  <a:cubicBezTo>
                    <a:pt x="2799455" y="3037835"/>
                    <a:pt x="2795541" y="3047283"/>
                    <a:pt x="2788575" y="3054249"/>
                  </a:cubicBezTo>
                  <a:cubicBezTo>
                    <a:pt x="2781608" y="3061215"/>
                    <a:pt x="2772160" y="3065129"/>
                    <a:pt x="2762308" y="3065129"/>
                  </a:cubicBezTo>
                  <a:lnTo>
                    <a:pt x="37147" y="3065129"/>
                  </a:lnTo>
                  <a:cubicBezTo>
                    <a:pt x="27295" y="3065129"/>
                    <a:pt x="17846" y="3061215"/>
                    <a:pt x="10880" y="3054249"/>
                  </a:cubicBezTo>
                  <a:cubicBezTo>
                    <a:pt x="3914" y="3047283"/>
                    <a:pt x="0" y="3037835"/>
                    <a:pt x="0" y="3027983"/>
                  </a:cubicBezTo>
                  <a:lnTo>
                    <a:pt x="0" y="37147"/>
                  </a:lnTo>
                  <a:cubicBezTo>
                    <a:pt x="0" y="27295"/>
                    <a:pt x="3914" y="17846"/>
                    <a:pt x="10880" y="10880"/>
                  </a:cubicBezTo>
                  <a:cubicBezTo>
                    <a:pt x="17846" y="3914"/>
                    <a:pt x="27295" y="0"/>
                    <a:pt x="37147" y="0"/>
                  </a:cubicBezTo>
                  <a:close/>
                </a:path>
              </a:pathLst>
            </a:custGeom>
            <a:solidFill>
              <a:srgbClr val="002566"/>
            </a:solidFill>
          </p:spPr>
        </p:sp>
        <p:sp>
          <p:nvSpPr>
            <p:cNvPr id="10" name="TextBox 10"/>
            <p:cNvSpPr txBox="1"/>
            <p:nvPr/>
          </p:nvSpPr>
          <p:spPr>
            <a:xfrm>
              <a:off x="0" y="-28575"/>
              <a:ext cx="2799455" cy="3093704"/>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3843864" y="2149752"/>
            <a:ext cx="10620170" cy="3241676"/>
          </a:xfrm>
          <a:prstGeom prst="rect">
            <a:avLst/>
          </a:prstGeom>
        </p:spPr>
        <p:txBody>
          <a:bodyPr lIns="0" tIns="0" rIns="0" bIns="0" rtlCol="0" anchor="t">
            <a:spAutoFit/>
          </a:bodyPr>
          <a:lstStyle/>
          <a:p>
            <a:pPr algn="r">
              <a:lnSpc>
                <a:spcPts val="12500"/>
              </a:lnSpc>
            </a:pPr>
            <a:r>
              <a:rPr lang="en-US" sz="12500" b="1">
                <a:solidFill>
                  <a:srgbClr val="FFFFFF"/>
                </a:solidFill>
                <a:latin typeface="Sarabun Bold"/>
                <a:ea typeface="Sarabun Bold"/>
                <a:cs typeface="Sarabun Bold"/>
                <a:sym typeface="Sarabun Bold"/>
              </a:rPr>
              <a:t>THANK </a:t>
            </a:r>
          </a:p>
          <a:p>
            <a:pPr algn="r">
              <a:lnSpc>
                <a:spcPts val="12500"/>
              </a:lnSpc>
            </a:pPr>
            <a:r>
              <a:rPr lang="en-US" sz="12500" b="1">
                <a:solidFill>
                  <a:srgbClr val="FFFFFF"/>
                </a:solidFill>
                <a:latin typeface="Sarabun Bold"/>
                <a:ea typeface="Sarabun Bold"/>
                <a:cs typeface="Sarabun Bold"/>
                <a:sym typeface="Sarabun Bold"/>
              </a:rPr>
              <a:t>YOU</a:t>
            </a:r>
          </a:p>
        </p:txBody>
      </p:sp>
      <p:sp>
        <p:nvSpPr>
          <p:cNvPr id="12" name="AutoShape 12"/>
          <p:cNvSpPr/>
          <p:nvPr/>
        </p:nvSpPr>
        <p:spPr>
          <a:xfrm>
            <a:off x="9144000" y="6086545"/>
            <a:ext cx="5320034" cy="0"/>
          </a:xfrm>
          <a:prstGeom prst="line">
            <a:avLst/>
          </a:prstGeom>
          <a:ln w="38100" cap="flat">
            <a:solidFill>
              <a:srgbClr val="FFFFFF"/>
            </a:solidFill>
            <a:prstDash val="solid"/>
            <a:headEnd type="none" w="sm" len="sm"/>
            <a:tailEnd type="none" w="sm" len="sm"/>
          </a:ln>
        </p:spPr>
      </p:sp>
      <p:sp>
        <p:nvSpPr>
          <p:cNvPr id="14" name="TextBox 13">
            <a:extLst>
              <a:ext uri="{FF2B5EF4-FFF2-40B4-BE49-F238E27FC236}">
                <a16:creationId xmlns:a16="http://schemas.microsoft.com/office/drawing/2014/main" id="{C78F4AB4-E42A-C1C5-2DC9-4307D83B8016}"/>
              </a:ext>
            </a:extLst>
          </p:cNvPr>
          <p:cNvSpPr txBox="1"/>
          <p:nvPr/>
        </p:nvSpPr>
        <p:spPr>
          <a:xfrm>
            <a:off x="10996363" y="6390037"/>
            <a:ext cx="3559629" cy="1061894"/>
          </a:xfrm>
          <a:prstGeom prst="rect">
            <a:avLst/>
          </a:prstGeom>
          <a:noFill/>
        </p:spPr>
        <p:txBody>
          <a:bodyPr wrap="square">
            <a:spAutoFit/>
          </a:bodyPr>
          <a:lstStyle/>
          <a:p>
            <a:pPr>
              <a:lnSpc>
                <a:spcPts val="4070"/>
              </a:lnSpc>
            </a:pPr>
            <a:r>
              <a:rPr lang="en-US" sz="2000" b="1" i="1" dirty="0">
                <a:solidFill>
                  <a:schemeClr val="bg1"/>
                </a:solidFill>
                <a:latin typeface="Sarabun Italics"/>
                <a:ea typeface="Sarabun Italics"/>
                <a:cs typeface="Sarabun Italics"/>
                <a:sym typeface="Sarabun Italics"/>
              </a:rPr>
              <a:t>        PRESENTED BY,                                  </a:t>
            </a:r>
          </a:p>
          <a:p>
            <a:pPr algn="r">
              <a:lnSpc>
                <a:spcPts val="4070"/>
              </a:lnSpc>
            </a:pPr>
            <a:r>
              <a:rPr lang="en-US" sz="2000" b="1" i="1" dirty="0">
                <a:solidFill>
                  <a:schemeClr val="bg1"/>
                </a:solidFill>
                <a:latin typeface="Sarabun Italics"/>
                <a:ea typeface="Sarabun Italics"/>
                <a:cs typeface="Sarabun Italics"/>
                <a:sym typeface="Sarabun Italics"/>
              </a:rPr>
              <a:t>    ROHINI SURESH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388</Words>
  <Application>Microsoft Office PowerPoint</Application>
  <PresentationFormat>Custom</PresentationFormat>
  <Paragraphs>59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Sarabun Italics</vt:lpstr>
      <vt:lpstr>Arial</vt:lpstr>
      <vt:lpstr>Sarabun</vt:lpstr>
      <vt:lpstr>Sarabun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LEADERSHIPMPERFORMANCE</dc:title>
  <cp:lastModifiedBy>rohinisuresh1118@gmail.com</cp:lastModifiedBy>
  <cp:revision>3</cp:revision>
  <dcterms:created xsi:type="dcterms:W3CDTF">2006-08-16T00:00:00Z</dcterms:created>
  <dcterms:modified xsi:type="dcterms:W3CDTF">2026-05-08T06:47:58Z</dcterms:modified>
  <dc:identifier>DAHH9_wID3M</dc:identifier>
</cp:coreProperties>
</file>